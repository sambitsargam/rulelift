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RuleLift turns the scariest asset in an enterprise — a business rule trapped in legacy code — into something you can read, prove, and change safely. These four numbers are computed live in the product, every run: fidelity from replaying 22k real UK property transactions, a £35M discrepancy it caught against the statute book, the quantified impact of a one-sentence rule change, and the generated test suite that proves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universal enterprise problem. The person who wrote the rule engine is gone, the code is hostile, and every change goes through weeks of consultant archaeology. LLMs help you read the code — but a summary you can't verify is an opinion. The gap in the market is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in one sentence: the LLM is only allowed to propose — a rule spec, a code change. Everything that could be wrong in a dangerous way is decided by deterministic Python: compilation, replay, impact math, and pytest. And the whole pipeline is human-gated: seven stages, seven explicit approvals.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stage 4 in the product, exactly as it renders. Left panel: the extraction reproduced the legacy engine on every one of 21,990 real transactions — that's what 'we understood your system' looks like when it's counted. Right panel: as a by-product, replay against the never-imported statutory oracle catches the planted £35M mis-charge. That red panel is the moment non-engineers lean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Judging criterion one: does it actually work on messy, ambiguous input, and recover from errors? Every box here is implemented and unit-tested: the data triage, the schema-validated retry loop, the write-guard that raises on any path outside the sandbox, the 409-gated state machine, and graceful degradation at every external boundary. Kill the API key or the network and the demo still runs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Judging criterion two: how dramatic is the speed-up on a real, slow enterprise process? The old way is a consulting engagement measured in weeks per change. RuleLift compresses recovery to seconds, verification to a full-ledger replay, impact analysis to an instant computation on real data, and the change itself to a generated, test-backed diff. The £35M catch is the kind of finding that pays for the tool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Judging criterion three: control. The user walks the process piece by piece with an explicit approve at each step, sees every artifact before it lands, and the agent's write authority is bounded in code — a guard that raises outside the sandbox directory, plus a live hash check proving the original was never touched. This isn't a policy promise; it's enforced by the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Judging criterion four: the demo itself. Six beats, ninety seconds, one arc a non-engineer can follow: black box in, plain-English rule out, proof on 22,000 real records, a £35M catch, a one-sentence change priced at £23.7M, and a green test suite — with the human approving every step. Close: this pattern applies to any rule you can replay against history — tax, pricing, commissions, eligibility.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1C12"/>
        </a:solidFill>
      </p:bgPr>
    </p:bg>
    <p:spTree>
      <p:nvGrpSpPr>
        <p:cNvPr id="1" name=""/>
        <p:cNvGrpSpPr/>
        <p:nvPr/>
      </p:nvGrpSpPr>
      <p:grpSpPr>
        <a:xfrm>
          <a:off x="0" y="0"/>
          <a:ext cx="0" cy="0"/>
          <a:chOff x="0" y="0"/>
          <a:chExt cx="0" cy="0"/>
        </a:xfrm>
      </p:grpSpPr>
      <p:sp>
        <p:nvSpPr>
          <p:cNvPr id="2" name="Shape 0"/>
          <p:cNvSpPr/>
          <p:nvPr/>
        </p:nvSpPr>
        <p:spPr>
          <a:xfrm>
            <a:off x="868680" y="777240"/>
            <a:ext cx="868680" cy="868680"/>
          </a:xfrm>
          <a:prstGeom prst="roundRect">
            <a:avLst>
              <a:gd name="adj" fmla="val 9000"/>
            </a:avLst>
          </a:prstGeom>
          <a:solidFill>
            <a:srgbClr val="FDFBF4"/>
          </a:solidFill>
          <a:ln w="25400">
            <a:solidFill>
              <a:srgbClr val="F4F1E7"/>
            </a:solidFill>
            <a:prstDash val="solid"/>
          </a:ln>
        </p:spPr>
      </p:sp>
      <p:sp>
        <p:nvSpPr>
          <p:cNvPr id="3" name="Shape 1"/>
          <p:cNvSpPr/>
          <p:nvPr/>
        </p:nvSpPr>
        <p:spPr>
          <a:xfrm>
            <a:off x="1045131" y="1347311"/>
            <a:ext cx="122158" cy="149304"/>
          </a:xfrm>
          <a:prstGeom prst="rect">
            <a:avLst/>
          </a:prstGeom>
          <a:solidFill>
            <a:srgbClr val="211C12"/>
          </a:solidFill>
          <a:ln/>
        </p:spPr>
      </p:sp>
      <p:sp>
        <p:nvSpPr>
          <p:cNvPr id="4" name="Shape 2"/>
          <p:cNvSpPr/>
          <p:nvPr/>
        </p:nvSpPr>
        <p:spPr>
          <a:xfrm>
            <a:off x="1235154" y="1238726"/>
            <a:ext cx="122158" cy="257889"/>
          </a:xfrm>
          <a:prstGeom prst="rect">
            <a:avLst/>
          </a:prstGeom>
          <a:solidFill>
            <a:srgbClr val="211C12"/>
          </a:solidFill>
          <a:ln/>
        </p:spPr>
      </p:sp>
      <p:sp>
        <p:nvSpPr>
          <p:cNvPr id="5" name="Shape 3"/>
          <p:cNvSpPr/>
          <p:nvPr/>
        </p:nvSpPr>
        <p:spPr>
          <a:xfrm>
            <a:off x="1425178" y="1116568"/>
            <a:ext cx="122158" cy="380047"/>
          </a:xfrm>
          <a:prstGeom prst="rect">
            <a:avLst/>
          </a:prstGeom>
          <a:solidFill>
            <a:srgbClr val="211C12"/>
          </a:solidFill>
          <a:ln/>
        </p:spPr>
      </p:sp>
      <p:sp>
        <p:nvSpPr>
          <p:cNvPr id="6" name="Shape 4"/>
          <p:cNvSpPr/>
          <p:nvPr/>
        </p:nvSpPr>
        <p:spPr>
          <a:xfrm flipV="1">
            <a:off x="1058704" y="967264"/>
            <a:ext cx="434340" cy="217170"/>
          </a:xfrm>
          <a:prstGeom prst="line">
            <a:avLst/>
          </a:prstGeom>
          <a:noFill/>
          <a:ln w="33020">
            <a:solidFill>
              <a:srgbClr val="9C2F1F"/>
            </a:solidFill>
            <a:prstDash val="solid"/>
            <a:tailEnd type="triangle"/>
          </a:ln>
        </p:spPr>
      </p:sp>
      <p:sp>
        <p:nvSpPr>
          <p:cNvPr id="7" name="Text 5"/>
          <p:cNvSpPr/>
          <p:nvPr/>
        </p:nvSpPr>
        <p:spPr>
          <a:xfrm>
            <a:off x="1920240" y="713232"/>
            <a:ext cx="5486400" cy="1005840"/>
          </a:xfrm>
          <a:prstGeom prst="rect">
            <a:avLst/>
          </a:prstGeom>
          <a:noFill/>
          <a:ln/>
        </p:spPr>
        <p:txBody>
          <a:bodyPr wrap="square" lIns="0" tIns="0" rIns="0" bIns="0" rtlCol="0" anchor="ctr"/>
          <a:lstStyle/>
          <a:p>
            <a:pPr indent="0" marL="0">
              <a:buNone/>
            </a:pPr>
            <a:r>
              <a:rPr lang="en-US" sz="5200" b="1" dirty="0">
                <a:solidFill>
                  <a:srgbClr val="F4F1E7"/>
                </a:solidFill>
                <a:latin typeface="Century Schoolbook" pitchFamily="34" charset="0"/>
                <a:ea typeface="Century Schoolbook" pitchFamily="34" charset="-122"/>
                <a:cs typeface="Century Schoolbook" pitchFamily="34" charset="-120"/>
              </a:rPr>
              <a:t>RuleLift</a:t>
            </a:r>
            <a:endParaRPr lang="en-US" sz="5200" dirty="0"/>
          </a:p>
        </p:txBody>
      </p:sp>
      <p:sp>
        <p:nvSpPr>
          <p:cNvPr id="8" name="Text 6"/>
          <p:cNvSpPr/>
          <p:nvPr/>
        </p:nvSpPr>
        <p:spPr>
          <a:xfrm>
            <a:off x="896112" y="2148840"/>
            <a:ext cx="9144000" cy="274320"/>
          </a:xfrm>
          <a:prstGeom prst="rect">
            <a:avLst/>
          </a:prstGeom>
          <a:noFill/>
          <a:ln/>
        </p:spPr>
        <p:txBody>
          <a:bodyPr wrap="square" lIns="0" tIns="0" rIns="0" bIns="0" rtlCol="0" anchor="ctr"/>
          <a:lstStyle/>
          <a:p>
            <a:pPr indent="0" marL="0">
              <a:buNone/>
            </a:pPr>
            <a:r>
              <a:rPr lang="en-US" sz="1100" spc="300" kern="0" dirty="0">
                <a:solidFill>
                  <a:srgbClr val="C96F4A"/>
                </a:solidFill>
                <a:latin typeface="Courier New" pitchFamily="34" charset="0"/>
                <a:ea typeface="Courier New" pitchFamily="34" charset="-122"/>
                <a:cs typeface="Courier New" pitchFamily="34" charset="-120"/>
              </a:rPr>
              <a:t>LEGACY RULE EXTRACTION · PROOF · SAFE CHANGE</a:t>
            </a:r>
            <a:endParaRPr lang="en-US" sz="1100" dirty="0"/>
          </a:p>
        </p:txBody>
      </p:sp>
      <p:sp>
        <p:nvSpPr>
          <p:cNvPr id="9" name="Text 7"/>
          <p:cNvSpPr/>
          <p:nvPr/>
        </p:nvSpPr>
        <p:spPr>
          <a:xfrm>
            <a:off x="868680" y="2468880"/>
            <a:ext cx="10424160" cy="1737360"/>
          </a:xfrm>
          <a:prstGeom prst="rect">
            <a:avLst/>
          </a:prstGeom>
          <a:noFill/>
          <a:ln/>
        </p:spPr>
        <p:txBody>
          <a:bodyPr wrap="square" lIns="0" tIns="0" rIns="0" bIns="0" rtlCol="0" anchor="ctr"/>
          <a:lstStyle/>
          <a:p>
            <a:pPr indent="0" marL="0">
              <a:lnSpc>
                <a:spcPct val="112000"/>
              </a:lnSpc>
              <a:buNone/>
            </a:pPr>
            <a:r>
              <a:rPr lang="en-US" sz="3100" b="1" dirty="0">
                <a:solidFill>
                  <a:srgbClr val="F4F1E7"/>
                </a:solidFill>
                <a:latin typeface="Century Schoolbook" pitchFamily="34" charset="0"/>
                <a:ea typeface="Century Schoolbook" pitchFamily="34" charset="-122"/>
                <a:cs typeface="Century Schoolbook" pitchFamily="34" charset="-120"/>
              </a:rPr>
              <a:t>The rule that runs your business is buried in code nobody dares touch.</a:t>
            </a:r>
            <a:pPr indent="0" marL="0">
              <a:lnSpc>
                <a:spcPct val="112000"/>
              </a:lnSpc>
              <a:buNone/>
            </a:pPr>
            <a:r>
              <a:rPr lang="en-US" sz="3100" b="1" dirty="0">
                <a:solidFill>
                  <a:srgbClr val="F4F1E7"/>
                </a:solidFill>
                <a:latin typeface="Century Schoolbook" pitchFamily="34" charset="0"/>
                <a:ea typeface="Century Schoolbook" pitchFamily="34" charset="-122"/>
                <a:cs typeface="Century Schoolbook" pitchFamily="34" charset="-120"/>
              </a:rPr>
              <a:t> RuleLift digs it out — </a:t>
            </a:r>
            <a:pPr indent="0" marL="0">
              <a:lnSpc>
                <a:spcPct val="112000"/>
              </a:lnSpc>
              <a:buNone/>
            </a:pPr>
            <a:r>
              <a:rPr lang="en-US" sz="3100" b="1" i="1" dirty="0">
                <a:solidFill>
                  <a:srgbClr val="C96F4A"/>
                </a:solidFill>
                <a:latin typeface="Century Schoolbook" pitchFamily="34" charset="0"/>
                <a:ea typeface="Century Schoolbook" pitchFamily="34" charset="-122"/>
                <a:cs typeface="Century Schoolbook" pitchFamily="34" charset="-120"/>
              </a:rPr>
              <a:t>and proves it.</a:t>
            </a:r>
            <a:endParaRPr lang="en-US" sz="3100" dirty="0"/>
          </a:p>
        </p:txBody>
      </p:sp>
      <p:sp>
        <p:nvSpPr>
          <p:cNvPr id="10" name="Shape 8"/>
          <p:cNvSpPr/>
          <p:nvPr/>
        </p:nvSpPr>
        <p:spPr>
          <a:xfrm>
            <a:off x="896112" y="4617720"/>
            <a:ext cx="10378440" cy="0"/>
          </a:xfrm>
          <a:prstGeom prst="line">
            <a:avLst/>
          </a:prstGeom>
          <a:noFill/>
          <a:ln w="12700">
            <a:solidFill>
              <a:srgbClr val="4A443A"/>
            </a:solidFill>
            <a:prstDash val="solid"/>
          </a:ln>
        </p:spPr>
      </p:sp>
      <p:sp>
        <p:nvSpPr>
          <p:cNvPr id="11" name="Text 9"/>
          <p:cNvSpPr/>
          <p:nvPr/>
        </p:nvSpPr>
        <p:spPr>
          <a:xfrm>
            <a:off x="896112" y="4846320"/>
            <a:ext cx="2514600" cy="566928"/>
          </a:xfrm>
          <a:prstGeom prst="rect">
            <a:avLst/>
          </a:prstGeom>
          <a:noFill/>
          <a:ln/>
        </p:spPr>
        <p:txBody>
          <a:bodyPr wrap="square" lIns="0" tIns="0" rIns="0" bIns="0" rtlCol="0" anchor="ctr"/>
          <a:lstStyle/>
          <a:p>
            <a:pPr indent="0" marL="0">
              <a:buNone/>
            </a:pPr>
            <a:r>
              <a:rPr lang="en-US" sz="3000" b="1" dirty="0">
                <a:solidFill>
                  <a:srgbClr val="8FBFA3"/>
                </a:solidFill>
                <a:latin typeface="Century Schoolbook" pitchFamily="34" charset="0"/>
                <a:ea typeface="Century Schoolbook" pitchFamily="34" charset="-122"/>
                <a:cs typeface="Century Schoolbook" pitchFamily="34" charset="-120"/>
              </a:rPr>
              <a:t>100.00%</a:t>
            </a:r>
            <a:endParaRPr lang="en-US" sz="3000" dirty="0"/>
          </a:p>
        </p:txBody>
      </p:sp>
      <p:sp>
        <p:nvSpPr>
          <p:cNvPr id="12" name="Text 10"/>
          <p:cNvSpPr/>
          <p:nvPr/>
        </p:nvSpPr>
        <p:spPr>
          <a:xfrm>
            <a:off x="896112" y="5449824"/>
            <a:ext cx="2514600" cy="237744"/>
          </a:xfrm>
          <a:prstGeom prst="rect">
            <a:avLst/>
          </a:prstGeom>
          <a:noFill/>
          <a:ln/>
        </p:spPr>
        <p:txBody>
          <a:bodyPr wrap="square" lIns="0" tIns="0" rIns="0" bIns="0" rtlCol="0" anchor="ctr"/>
          <a:lstStyle/>
          <a:p>
            <a:pPr indent="0" marL="0">
              <a:buNone/>
            </a:pPr>
            <a:r>
              <a:rPr lang="en-US" sz="950" spc="200" kern="0" dirty="0">
                <a:solidFill>
                  <a:srgbClr val="C9C2B2"/>
                </a:solidFill>
                <a:latin typeface="Courier New" pitchFamily="34" charset="0"/>
                <a:ea typeface="Courier New" pitchFamily="34" charset="-122"/>
                <a:cs typeface="Courier New" pitchFamily="34" charset="-120"/>
              </a:rPr>
              <a:t>EXTRACTION FIDELITY</a:t>
            </a:r>
            <a:endParaRPr lang="en-US" sz="950" dirty="0"/>
          </a:p>
        </p:txBody>
      </p:sp>
      <p:sp>
        <p:nvSpPr>
          <p:cNvPr id="13" name="Text 11"/>
          <p:cNvSpPr/>
          <p:nvPr/>
        </p:nvSpPr>
        <p:spPr>
          <a:xfrm>
            <a:off x="896112" y="5705856"/>
            <a:ext cx="2514600" cy="502920"/>
          </a:xfrm>
          <a:prstGeom prst="rect">
            <a:avLst/>
          </a:prstGeom>
          <a:noFill/>
          <a:ln/>
        </p:spPr>
        <p:txBody>
          <a:bodyPr wrap="square" lIns="0" tIns="0" rIns="0" bIns="0" rtlCol="0" anchor="ctr"/>
          <a:lstStyle/>
          <a:p>
            <a:pPr indent="0" marL="0">
              <a:buNone/>
            </a:pPr>
            <a:r>
              <a:rPr lang="en-US" sz="1050" dirty="0">
                <a:solidFill>
                  <a:srgbClr val="C9C2B2"/>
                </a:solidFill>
                <a:latin typeface="Calibri" pitchFamily="34" charset="0"/>
                <a:ea typeface="Calibri" pitchFamily="34" charset="-122"/>
                <a:cs typeface="Calibri" pitchFamily="34" charset="-120"/>
              </a:rPr>
              <a:t>21,990 of 21,990 real transactions reproduced</a:t>
            </a:r>
            <a:endParaRPr lang="en-US" sz="1050" dirty="0"/>
          </a:p>
        </p:txBody>
      </p:sp>
      <p:sp>
        <p:nvSpPr>
          <p:cNvPr id="14" name="Text 12"/>
          <p:cNvSpPr/>
          <p:nvPr/>
        </p:nvSpPr>
        <p:spPr>
          <a:xfrm>
            <a:off x="3611880" y="4846320"/>
            <a:ext cx="2514600" cy="566928"/>
          </a:xfrm>
          <a:prstGeom prst="rect">
            <a:avLst/>
          </a:prstGeom>
          <a:noFill/>
          <a:ln/>
        </p:spPr>
        <p:txBody>
          <a:bodyPr wrap="square" lIns="0" tIns="0" rIns="0" bIns="0" rtlCol="0" anchor="ctr"/>
          <a:lstStyle/>
          <a:p>
            <a:pPr indent="0" marL="0">
              <a:buNone/>
            </a:pPr>
            <a:r>
              <a:rPr lang="en-US" sz="3000" b="1" dirty="0">
                <a:solidFill>
                  <a:srgbClr val="C96F4A"/>
                </a:solidFill>
                <a:latin typeface="Century Schoolbook" pitchFamily="34" charset="0"/>
                <a:ea typeface="Century Schoolbook" pitchFamily="34" charset="-122"/>
                <a:cs typeface="Century Schoolbook" pitchFamily="34" charset="-120"/>
              </a:rPr>
              <a:t>£35.2M</a:t>
            </a:r>
            <a:endParaRPr lang="en-US" sz="3000" dirty="0"/>
          </a:p>
        </p:txBody>
      </p:sp>
      <p:sp>
        <p:nvSpPr>
          <p:cNvPr id="15" name="Text 13"/>
          <p:cNvSpPr/>
          <p:nvPr/>
        </p:nvSpPr>
        <p:spPr>
          <a:xfrm>
            <a:off x="3611880" y="5449824"/>
            <a:ext cx="2514600" cy="237744"/>
          </a:xfrm>
          <a:prstGeom prst="rect">
            <a:avLst/>
          </a:prstGeom>
          <a:noFill/>
          <a:ln/>
        </p:spPr>
        <p:txBody>
          <a:bodyPr wrap="square" lIns="0" tIns="0" rIns="0" bIns="0" rtlCol="0" anchor="ctr"/>
          <a:lstStyle/>
          <a:p>
            <a:pPr indent="0" marL="0">
              <a:buNone/>
            </a:pPr>
            <a:r>
              <a:rPr lang="en-US" sz="950" spc="200" kern="0" dirty="0">
                <a:solidFill>
                  <a:srgbClr val="C9C2B2"/>
                </a:solidFill>
                <a:latin typeface="Courier New" pitchFamily="34" charset="0"/>
                <a:ea typeface="Courier New" pitchFamily="34" charset="-122"/>
                <a:cs typeface="Courier New" pitchFamily="34" charset="-120"/>
              </a:rPr>
              <a:t>LEGACY DRIFT CAUGHT</a:t>
            </a:r>
            <a:endParaRPr lang="en-US" sz="950" dirty="0"/>
          </a:p>
        </p:txBody>
      </p:sp>
      <p:sp>
        <p:nvSpPr>
          <p:cNvPr id="16" name="Text 14"/>
          <p:cNvSpPr/>
          <p:nvPr/>
        </p:nvSpPr>
        <p:spPr>
          <a:xfrm>
            <a:off x="3611880" y="5705856"/>
            <a:ext cx="2514600" cy="502920"/>
          </a:xfrm>
          <a:prstGeom prst="rect">
            <a:avLst/>
          </a:prstGeom>
          <a:noFill/>
          <a:ln/>
        </p:spPr>
        <p:txBody>
          <a:bodyPr wrap="square" lIns="0" tIns="0" rIns="0" bIns="0" rtlCol="0" anchor="ctr"/>
          <a:lstStyle/>
          <a:p>
            <a:pPr indent="0" marL="0">
              <a:buNone/>
            </a:pPr>
            <a:r>
              <a:rPr lang="en-US" sz="1050" dirty="0">
                <a:solidFill>
                  <a:srgbClr val="C9C2B2"/>
                </a:solidFill>
                <a:latin typeface="Calibri" pitchFamily="34" charset="0"/>
                <a:ea typeface="Calibri" pitchFamily="34" charset="-122"/>
                <a:cs typeface="Calibri" pitchFamily="34" charset="-120"/>
              </a:rPr>
              <a:t>the code disagreed with the law on 17,659 records</a:t>
            </a:r>
            <a:endParaRPr lang="en-US" sz="1050" dirty="0"/>
          </a:p>
        </p:txBody>
      </p:sp>
      <p:sp>
        <p:nvSpPr>
          <p:cNvPr id="17" name="Text 15"/>
          <p:cNvSpPr/>
          <p:nvPr/>
        </p:nvSpPr>
        <p:spPr>
          <a:xfrm>
            <a:off x="6327648" y="4846320"/>
            <a:ext cx="2514600" cy="566928"/>
          </a:xfrm>
          <a:prstGeom prst="rect">
            <a:avLst/>
          </a:prstGeom>
          <a:noFill/>
          <a:ln/>
        </p:spPr>
        <p:txBody>
          <a:bodyPr wrap="square" lIns="0" tIns="0" rIns="0" bIns="0" rtlCol="0" anchor="ctr"/>
          <a:lstStyle/>
          <a:p>
            <a:pPr indent="0" marL="0">
              <a:buNone/>
            </a:pPr>
            <a:r>
              <a:rPr lang="en-US" sz="3000" b="1" dirty="0">
                <a:solidFill>
                  <a:srgbClr val="F4F1E7"/>
                </a:solidFill>
                <a:latin typeface="Century Schoolbook" pitchFamily="34" charset="0"/>
                <a:ea typeface="Century Schoolbook" pitchFamily="34" charset="-122"/>
                <a:cs typeface="Century Schoolbook" pitchFamily="34" charset="-120"/>
              </a:rPr>
              <a:t>£23.7M</a:t>
            </a:r>
            <a:endParaRPr lang="en-US" sz="3000" dirty="0"/>
          </a:p>
        </p:txBody>
      </p:sp>
      <p:sp>
        <p:nvSpPr>
          <p:cNvPr id="18" name="Text 16"/>
          <p:cNvSpPr/>
          <p:nvPr/>
        </p:nvSpPr>
        <p:spPr>
          <a:xfrm>
            <a:off x="6327648" y="5449824"/>
            <a:ext cx="2514600" cy="237744"/>
          </a:xfrm>
          <a:prstGeom prst="rect">
            <a:avLst/>
          </a:prstGeom>
          <a:noFill/>
          <a:ln/>
        </p:spPr>
        <p:txBody>
          <a:bodyPr wrap="square" lIns="0" tIns="0" rIns="0" bIns="0" rtlCol="0" anchor="ctr"/>
          <a:lstStyle/>
          <a:p>
            <a:pPr indent="0" marL="0">
              <a:buNone/>
            </a:pPr>
            <a:r>
              <a:rPr lang="en-US" sz="950" spc="200" kern="0" dirty="0">
                <a:solidFill>
                  <a:srgbClr val="C9C2B2"/>
                </a:solidFill>
                <a:latin typeface="Courier New" pitchFamily="34" charset="0"/>
                <a:ea typeface="Courier New" pitchFamily="34" charset="-122"/>
                <a:cs typeface="Courier New" pitchFamily="34" charset="-120"/>
              </a:rPr>
              <a:t>IMPACT OF ONE SENTENCE</a:t>
            </a:r>
            <a:endParaRPr lang="en-US" sz="950" dirty="0"/>
          </a:p>
        </p:txBody>
      </p:sp>
      <p:sp>
        <p:nvSpPr>
          <p:cNvPr id="19" name="Text 17"/>
          <p:cNvSpPr/>
          <p:nvPr/>
        </p:nvSpPr>
        <p:spPr>
          <a:xfrm>
            <a:off x="6327648" y="5705856"/>
            <a:ext cx="2514600" cy="502920"/>
          </a:xfrm>
          <a:prstGeom prst="rect">
            <a:avLst/>
          </a:prstGeom>
          <a:noFill/>
          <a:ln/>
        </p:spPr>
        <p:txBody>
          <a:bodyPr wrap="square" lIns="0" tIns="0" rIns="0" bIns="0" rtlCol="0" anchor="ctr"/>
          <a:lstStyle/>
          <a:p>
            <a:pPr indent="0" marL="0">
              <a:buNone/>
            </a:pPr>
            <a:r>
              <a:rPr lang="en-US" sz="1050" dirty="0">
                <a:solidFill>
                  <a:srgbClr val="C9C2B2"/>
                </a:solidFill>
                <a:latin typeface="Calibri" pitchFamily="34" charset="0"/>
                <a:ea typeface="Calibri" pitchFamily="34" charset="-122"/>
                <a:cs typeface="Calibri" pitchFamily="34" charset="-120"/>
              </a:rPr>
              <a:t>“raise the nil-rate threshold to £300,000”</a:t>
            </a:r>
            <a:endParaRPr lang="en-US" sz="1050" dirty="0"/>
          </a:p>
        </p:txBody>
      </p:sp>
      <p:sp>
        <p:nvSpPr>
          <p:cNvPr id="20" name="Text 18"/>
          <p:cNvSpPr/>
          <p:nvPr/>
        </p:nvSpPr>
        <p:spPr>
          <a:xfrm>
            <a:off x="9043416" y="4846320"/>
            <a:ext cx="2240280" cy="566928"/>
          </a:xfrm>
          <a:prstGeom prst="rect">
            <a:avLst/>
          </a:prstGeom>
          <a:noFill/>
          <a:ln/>
        </p:spPr>
        <p:txBody>
          <a:bodyPr wrap="square" lIns="0" tIns="0" rIns="0" bIns="0" rtlCol="0" anchor="ctr"/>
          <a:lstStyle/>
          <a:p>
            <a:pPr indent="0" marL="0">
              <a:buNone/>
            </a:pPr>
            <a:r>
              <a:rPr lang="en-US" sz="3000" b="1" dirty="0">
                <a:solidFill>
                  <a:srgbClr val="F4F1E7"/>
                </a:solidFill>
                <a:latin typeface="Century Schoolbook" pitchFamily="34" charset="0"/>
                <a:ea typeface="Century Schoolbook" pitchFamily="34" charset="-122"/>
                <a:cs typeface="Century Schoolbook" pitchFamily="34" charset="-120"/>
              </a:rPr>
              <a:t>71</a:t>
            </a:r>
            <a:endParaRPr lang="en-US" sz="3000" dirty="0"/>
          </a:p>
        </p:txBody>
      </p:sp>
      <p:sp>
        <p:nvSpPr>
          <p:cNvPr id="21" name="Text 19"/>
          <p:cNvSpPr/>
          <p:nvPr/>
        </p:nvSpPr>
        <p:spPr>
          <a:xfrm>
            <a:off x="9043416" y="5449824"/>
            <a:ext cx="2240280" cy="237744"/>
          </a:xfrm>
          <a:prstGeom prst="rect">
            <a:avLst/>
          </a:prstGeom>
          <a:noFill/>
          <a:ln/>
        </p:spPr>
        <p:txBody>
          <a:bodyPr wrap="square" lIns="0" tIns="0" rIns="0" bIns="0" rtlCol="0" anchor="ctr"/>
          <a:lstStyle/>
          <a:p>
            <a:pPr indent="0" marL="0">
              <a:buNone/>
            </a:pPr>
            <a:r>
              <a:rPr lang="en-US" sz="950" spc="200" kern="0" dirty="0">
                <a:solidFill>
                  <a:srgbClr val="C9C2B2"/>
                </a:solidFill>
                <a:latin typeface="Courier New" pitchFamily="34" charset="0"/>
                <a:ea typeface="Courier New" pitchFamily="34" charset="-122"/>
                <a:cs typeface="Courier New" pitchFamily="34" charset="-120"/>
              </a:rPr>
              <a:t>GENERATED TESTS, GREEN</a:t>
            </a:r>
            <a:endParaRPr lang="en-US" sz="950" dirty="0"/>
          </a:p>
        </p:txBody>
      </p:sp>
      <p:sp>
        <p:nvSpPr>
          <p:cNvPr id="22" name="Text 20"/>
          <p:cNvSpPr/>
          <p:nvPr/>
        </p:nvSpPr>
        <p:spPr>
          <a:xfrm>
            <a:off x="9043416" y="5705856"/>
            <a:ext cx="2240280" cy="502920"/>
          </a:xfrm>
          <a:prstGeom prst="rect">
            <a:avLst/>
          </a:prstGeom>
          <a:noFill/>
          <a:ln/>
        </p:spPr>
        <p:txBody>
          <a:bodyPr wrap="square" lIns="0" tIns="0" rIns="0" bIns="0" rtlCol="0" anchor="ctr"/>
          <a:lstStyle/>
          <a:p>
            <a:pPr indent="0" marL="0">
              <a:buNone/>
            </a:pPr>
            <a:r>
              <a:rPr lang="en-US" sz="1050" dirty="0">
                <a:solidFill>
                  <a:srgbClr val="C9C2B2"/>
                </a:solidFill>
                <a:latin typeface="Calibri" pitchFamily="34" charset="0"/>
                <a:ea typeface="Calibri" pitchFamily="34" charset="-122"/>
                <a:cs typeface="Calibri" pitchFamily="34" charset="-120"/>
              </a:rPr>
              <a:t>golden cases derived from historical data</a:t>
            </a:r>
            <a:endParaRPr lang="en-US" sz="1050" dirty="0"/>
          </a:p>
        </p:txBody>
      </p:sp>
      <p:sp>
        <p:nvSpPr>
          <p:cNvPr id="23" name="Text 21"/>
          <p:cNvSpPr/>
          <p:nvPr/>
        </p:nvSpPr>
        <p:spPr>
          <a:xfrm>
            <a:off x="896112" y="6419088"/>
            <a:ext cx="10424160" cy="274320"/>
          </a:xfrm>
          <a:prstGeom prst="rect">
            <a:avLst/>
          </a:prstGeom>
          <a:noFill/>
          <a:ln/>
        </p:spPr>
        <p:txBody>
          <a:bodyPr wrap="square" lIns="0" tIns="0" rIns="0" bIns="0" rtlCol="0" anchor="ctr"/>
          <a:lstStyle/>
          <a:p>
            <a:pPr indent="0" marL="0">
              <a:buNone/>
            </a:pPr>
            <a:r>
              <a:rPr lang="en-US" sz="1000" dirty="0">
                <a:solidFill>
                  <a:srgbClr val="C9C2B2"/>
                </a:solidFill>
                <a:latin typeface="Courier New" pitchFamily="34" charset="0"/>
                <a:ea typeface="Courier New" pitchFamily="34" charset="-122"/>
                <a:cs typeface="Courier New" pitchFamily="34" charset="-120"/>
              </a:rPr>
              <a:t>github.com/sambitsargam/rulelift   ·   make demo   ·   runs locally, LLM optional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7"/>
        </a:solidFill>
      </p:bgPr>
    </p:bg>
    <p:spTree>
      <p:nvGrpSpPr>
        <p:cNvPr id="1" name=""/>
        <p:cNvGrpSpPr/>
        <p:nvPr/>
      </p:nvGrpSpPr>
      <p:grpSpPr>
        <a:xfrm>
          <a:off x="0" y="0"/>
          <a:ext cx="0" cy="0"/>
          <a:chOff x="0" y="0"/>
          <a:chExt cx="0" cy="0"/>
        </a:xfrm>
      </p:grpSpPr>
      <p:sp>
        <p:nvSpPr>
          <p:cNvPr id="2" name="Text 0"/>
          <p:cNvSpPr/>
          <p:nvPr/>
        </p:nvSpPr>
        <p:spPr>
          <a:xfrm>
            <a:off x="822960" y="457200"/>
            <a:ext cx="7315200" cy="274320"/>
          </a:xfrm>
          <a:prstGeom prst="rect">
            <a:avLst/>
          </a:prstGeom>
          <a:noFill/>
          <a:ln/>
        </p:spPr>
        <p:txBody>
          <a:bodyPr wrap="square" lIns="0" tIns="0" rIns="0" bIns="0" rtlCol="0" anchor="ctr"/>
          <a:lstStyle/>
          <a:p>
            <a:pPr indent="0" marL="0">
              <a:buNone/>
            </a:pPr>
            <a:r>
              <a:rPr lang="en-US" sz="1100" spc="300" kern="0" dirty="0">
                <a:solidFill>
                  <a:srgbClr val="9C2F1F"/>
                </a:solidFill>
                <a:latin typeface="Courier New" pitchFamily="34" charset="0"/>
                <a:ea typeface="Courier New" pitchFamily="34" charset="-122"/>
                <a:cs typeface="Courier New" pitchFamily="34" charset="-120"/>
              </a:rPr>
              <a:t>THE PROBLEM</a:t>
            </a:r>
            <a:endParaRPr lang="en-US" sz="1100" dirty="0"/>
          </a:p>
        </p:txBody>
      </p:sp>
      <p:sp>
        <p:nvSpPr>
          <p:cNvPr id="3" name="Text 1"/>
          <p:cNvSpPr/>
          <p:nvPr/>
        </p:nvSpPr>
        <p:spPr>
          <a:xfrm>
            <a:off x="822960" y="749808"/>
            <a:ext cx="10607040" cy="685800"/>
          </a:xfrm>
          <a:prstGeom prst="rect">
            <a:avLst/>
          </a:prstGeom>
          <a:noFill/>
          <a:ln/>
        </p:spPr>
        <p:txBody>
          <a:bodyPr wrap="square" lIns="0" tIns="0" rIns="0" bIns="0" rtlCol="0" anchor="ctr"/>
          <a:lstStyle/>
          <a:p>
            <a:pPr indent="0" marL="0">
              <a:buNone/>
            </a:pPr>
            <a:r>
              <a:rPr lang="en-US" sz="3000" b="1" dirty="0">
                <a:solidFill>
                  <a:srgbClr val="211C12"/>
                </a:solidFill>
                <a:latin typeface="Century Schoolbook" pitchFamily="34" charset="0"/>
                <a:ea typeface="Century Schoolbook" pitchFamily="34" charset="-122"/>
                <a:cs typeface="Century Schoolbook" pitchFamily="34" charset="-120"/>
              </a:rPr>
              <a:t>Rules worth millions live in code nobody understands.</a:t>
            </a:r>
            <a:endParaRPr lang="en-US" sz="3000" dirty="0"/>
          </a:p>
        </p:txBody>
      </p:sp>
      <p:sp>
        <p:nvSpPr>
          <p:cNvPr id="4" name="Shape 2"/>
          <p:cNvSpPr/>
          <p:nvPr/>
        </p:nvSpPr>
        <p:spPr>
          <a:xfrm>
            <a:off x="822960" y="1865376"/>
            <a:ext cx="475488" cy="475488"/>
          </a:xfrm>
          <a:prstGeom prst="ellipse">
            <a:avLst/>
          </a:prstGeom>
          <a:solidFill>
            <a:srgbClr val="F4E4DD"/>
          </a:solidFill>
          <a:ln/>
        </p:spPr>
      </p:sp>
      <p:pic>
        <p:nvPicPr>
          <p:cNvPr id="5" name="Image 0" descr="preencoded.png">    </p:cNvPr>
          <p:cNvPicPr>
            <a:picLocks noChangeAspect="1"/>
          </p:cNvPicPr>
          <p:nvPr/>
        </p:nvPicPr>
        <p:blipFill>
          <a:blip r:embed="rId1"/>
          <a:stretch>
            <a:fillRect/>
          </a:stretch>
        </p:blipFill>
        <p:spPr>
          <a:xfrm>
            <a:off x="941832" y="1984248"/>
            <a:ext cx="237744" cy="237744"/>
          </a:xfrm>
          <a:prstGeom prst="rect">
            <a:avLst/>
          </a:prstGeom>
        </p:spPr>
      </p:pic>
      <p:sp>
        <p:nvSpPr>
          <p:cNvPr id="6" name="Text 3"/>
          <p:cNvSpPr/>
          <p:nvPr/>
        </p:nvSpPr>
        <p:spPr>
          <a:xfrm>
            <a:off x="1481328" y="1801368"/>
            <a:ext cx="4846320" cy="320040"/>
          </a:xfrm>
          <a:prstGeom prst="rect">
            <a:avLst/>
          </a:prstGeom>
          <a:noFill/>
          <a:ln/>
        </p:spPr>
        <p:txBody>
          <a:bodyPr wrap="square" lIns="0" tIns="0" rIns="0" bIns="0" rtlCol="0" anchor="ctr"/>
          <a:lstStyle/>
          <a:p>
            <a:pPr indent="0" marL="0">
              <a:buNone/>
            </a:pPr>
            <a:r>
              <a:rPr lang="en-US" sz="1550" b="1" dirty="0">
                <a:solidFill>
                  <a:srgbClr val="211C12"/>
                </a:solidFill>
                <a:latin typeface="Calibri" pitchFamily="34" charset="0"/>
                <a:ea typeface="Calibri" pitchFamily="34" charset="-122"/>
                <a:cs typeface="Calibri" pitchFamily="34" charset="-120"/>
              </a:rPr>
              <a:t>The expert left years ago</a:t>
            </a:r>
            <a:endParaRPr lang="en-US" sz="1550" dirty="0"/>
          </a:p>
        </p:txBody>
      </p:sp>
      <p:sp>
        <p:nvSpPr>
          <p:cNvPr id="7" name="Text 4"/>
          <p:cNvSpPr/>
          <p:nvPr/>
        </p:nvSpPr>
        <p:spPr>
          <a:xfrm>
            <a:off x="1481328" y="2130552"/>
            <a:ext cx="4800600" cy="960120"/>
          </a:xfrm>
          <a:prstGeom prst="rect">
            <a:avLst/>
          </a:prstGeom>
          <a:noFill/>
          <a:ln/>
        </p:spPr>
        <p:txBody>
          <a:bodyPr wrap="square" lIns="0" tIns="0" rIns="0" bIns="0" rtlCol="0" anchor="ctr"/>
          <a:lstStyle/>
          <a:p>
            <a:pPr indent="0" marL="0">
              <a:lnSpc>
                <a:spcPct val="108000"/>
              </a:lnSpc>
              <a:buNone/>
            </a:pPr>
            <a:r>
              <a:rPr lang="en-US" sz="1200" dirty="0">
                <a:solidFill>
                  <a:srgbClr val="6F6757"/>
                </a:solidFill>
                <a:latin typeface="Calibri" pitchFamily="34" charset="0"/>
                <a:ea typeface="Calibri" pitchFamily="34" charset="-122"/>
                <a:cs typeface="Calibri" pitchFamily="34" charset="-120"/>
              </a:rPr>
              <a:t>The only spec is the code itself — cryptic names, dead branches, a VB6-to-Python port with comments that lie.</a:t>
            </a:r>
            <a:endParaRPr lang="en-US" sz="1200" dirty="0"/>
          </a:p>
        </p:txBody>
      </p:sp>
      <p:sp>
        <p:nvSpPr>
          <p:cNvPr id="8" name="Shape 5"/>
          <p:cNvSpPr/>
          <p:nvPr/>
        </p:nvSpPr>
        <p:spPr>
          <a:xfrm>
            <a:off x="822960" y="3346704"/>
            <a:ext cx="475488" cy="475488"/>
          </a:xfrm>
          <a:prstGeom prst="ellipse">
            <a:avLst/>
          </a:prstGeom>
          <a:solidFill>
            <a:srgbClr val="F4E4DD"/>
          </a:solidFill>
          <a:ln/>
        </p:spPr>
      </p:sp>
      <p:pic>
        <p:nvPicPr>
          <p:cNvPr id="9" name="Image 1" descr="preencoded.png">    </p:cNvPr>
          <p:cNvPicPr>
            <a:picLocks noChangeAspect="1"/>
          </p:cNvPicPr>
          <p:nvPr/>
        </p:nvPicPr>
        <p:blipFill>
          <a:blip r:embed="rId2"/>
          <a:stretch>
            <a:fillRect/>
          </a:stretch>
        </p:blipFill>
        <p:spPr>
          <a:xfrm>
            <a:off x="941832" y="3465576"/>
            <a:ext cx="237744" cy="237744"/>
          </a:xfrm>
          <a:prstGeom prst="rect">
            <a:avLst/>
          </a:prstGeom>
        </p:spPr>
      </p:pic>
      <p:sp>
        <p:nvSpPr>
          <p:cNvPr id="10" name="Text 6"/>
          <p:cNvSpPr/>
          <p:nvPr/>
        </p:nvSpPr>
        <p:spPr>
          <a:xfrm>
            <a:off x="1481328" y="3282696"/>
            <a:ext cx="4846320" cy="320040"/>
          </a:xfrm>
          <a:prstGeom prst="rect">
            <a:avLst/>
          </a:prstGeom>
          <a:noFill/>
          <a:ln/>
        </p:spPr>
        <p:txBody>
          <a:bodyPr wrap="square" lIns="0" tIns="0" rIns="0" bIns="0" rtlCol="0" anchor="ctr"/>
          <a:lstStyle/>
          <a:p>
            <a:pPr indent="0" marL="0">
              <a:buNone/>
            </a:pPr>
            <a:r>
              <a:rPr lang="en-US" sz="1550" b="1" dirty="0">
                <a:solidFill>
                  <a:srgbClr val="211C12"/>
                </a:solidFill>
                <a:latin typeface="Calibri" pitchFamily="34" charset="0"/>
                <a:ea typeface="Calibri" pitchFamily="34" charset="-122"/>
                <a:cs typeface="Calibri" pitchFamily="34" charset="-120"/>
              </a:rPr>
              <a:t>Every change is a consulting engagement</a:t>
            </a:r>
            <a:endParaRPr lang="en-US" sz="1550" dirty="0"/>
          </a:p>
        </p:txBody>
      </p:sp>
      <p:sp>
        <p:nvSpPr>
          <p:cNvPr id="11" name="Text 7"/>
          <p:cNvSpPr/>
          <p:nvPr/>
        </p:nvSpPr>
        <p:spPr>
          <a:xfrm>
            <a:off x="1481328" y="3611880"/>
            <a:ext cx="4800600" cy="960120"/>
          </a:xfrm>
          <a:prstGeom prst="rect">
            <a:avLst/>
          </a:prstGeom>
          <a:noFill/>
          <a:ln/>
        </p:spPr>
        <p:txBody>
          <a:bodyPr wrap="square" lIns="0" tIns="0" rIns="0" bIns="0" rtlCol="0" anchor="ctr"/>
          <a:lstStyle/>
          <a:p>
            <a:pPr indent="0" marL="0">
              <a:lnSpc>
                <a:spcPct val="108000"/>
              </a:lnSpc>
              <a:buNone/>
            </a:pPr>
            <a:r>
              <a:rPr lang="en-US" sz="1200" dirty="0">
                <a:solidFill>
                  <a:srgbClr val="6F6757"/>
                </a:solidFill>
                <a:latin typeface="Calibri" pitchFamily="34" charset="0"/>
                <a:ea typeface="Calibri" pitchFamily="34" charset="-122"/>
                <a:cs typeface="Calibri" pitchFamily="34" charset="-120"/>
              </a:rPr>
              <a:t>Weeks of code archaeology before anyone dares move a threshold. Tax bands, pricing tiers, commissions — all frozen by fear.</a:t>
            </a:r>
            <a:endParaRPr lang="en-US" sz="1200" dirty="0"/>
          </a:p>
        </p:txBody>
      </p:sp>
      <p:sp>
        <p:nvSpPr>
          <p:cNvPr id="12" name="Shape 8"/>
          <p:cNvSpPr/>
          <p:nvPr/>
        </p:nvSpPr>
        <p:spPr>
          <a:xfrm>
            <a:off x="822960" y="4828032"/>
            <a:ext cx="475488" cy="475488"/>
          </a:xfrm>
          <a:prstGeom prst="ellipse">
            <a:avLst/>
          </a:prstGeom>
          <a:solidFill>
            <a:srgbClr val="F4E4DD"/>
          </a:solidFill>
          <a:ln/>
        </p:spPr>
      </p:sp>
      <p:pic>
        <p:nvPicPr>
          <p:cNvPr id="13" name="Image 2" descr="preencoded.png">    </p:cNvPr>
          <p:cNvPicPr>
            <a:picLocks noChangeAspect="1"/>
          </p:cNvPicPr>
          <p:nvPr/>
        </p:nvPicPr>
        <p:blipFill>
          <a:blip r:embed="rId3"/>
          <a:stretch>
            <a:fillRect/>
          </a:stretch>
        </p:blipFill>
        <p:spPr>
          <a:xfrm>
            <a:off x="941832" y="4946904"/>
            <a:ext cx="237744" cy="237744"/>
          </a:xfrm>
          <a:prstGeom prst="rect">
            <a:avLst/>
          </a:prstGeom>
        </p:spPr>
      </p:pic>
      <p:sp>
        <p:nvSpPr>
          <p:cNvPr id="14" name="Text 9"/>
          <p:cNvSpPr/>
          <p:nvPr/>
        </p:nvSpPr>
        <p:spPr>
          <a:xfrm>
            <a:off x="1481328" y="4764024"/>
            <a:ext cx="4846320" cy="320040"/>
          </a:xfrm>
          <a:prstGeom prst="rect">
            <a:avLst/>
          </a:prstGeom>
          <a:noFill/>
          <a:ln/>
        </p:spPr>
        <p:txBody>
          <a:bodyPr wrap="square" lIns="0" tIns="0" rIns="0" bIns="0" rtlCol="0" anchor="ctr"/>
          <a:lstStyle/>
          <a:p>
            <a:pPr indent="0" marL="0">
              <a:buNone/>
            </a:pPr>
            <a:r>
              <a:rPr lang="en-US" sz="1550" b="1" dirty="0">
                <a:solidFill>
                  <a:srgbClr val="211C12"/>
                </a:solidFill>
                <a:latin typeface="Calibri" pitchFamily="34" charset="0"/>
                <a:ea typeface="Calibri" pitchFamily="34" charset="-122"/>
                <a:cs typeface="Calibri" pitchFamily="34" charset="-120"/>
              </a:rPr>
              <a:t>An LLM summary is an opinion</a:t>
            </a:r>
            <a:endParaRPr lang="en-US" sz="1550" dirty="0"/>
          </a:p>
        </p:txBody>
      </p:sp>
      <p:sp>
        <p:nvSpPr>
          <p:cNvPr id="15" name="Text 10"/>
          <p:cNvSpPr/>
          <p:nvPr/>
        </p:nvSpPr>
        <p:spPr>
          <a:xfrm>
            <a:off x="1481328" y="5093208"/>
            <a:ext cx="4800600" cy="960120"/>
          </a:xfrm>
          <a:prstGeom prst="rect">
            <a:avLst/>
          </a:prstGeom>
          <a:noFill/>
          <a:ln/>
        </p:spPr>
        <p:txBody>
          <a:bodyPr wrap="square" lIns="0" tIns="0" rIns="0" bIns="0" rtlCol="0" anchor="ctr"/>
          <a:lstStyle/>
          <a:p>
            <a:pPr indent="0" marL="0">
              <a:lnSpc>
                <a:spcPct val="108000"/>
              </a:lnSpc>
              <a:buNone/>
            </a:pPr>
            <a:r>
              <a:rPr lang="en-US" sz="1200" dirty="0">
                <a:solidFill>
                  <a:srgbClr val="6F6757"/>
                </a:solidFill>
                <a:latin typeface="Calibri" pitchFamily="34" charset="0"/>
                <a:ea typeface="Calibri" pitchFamily="34" charset="-122"/>
                <a:cs typeface="Calibri" pitchFamily="34" charset="-120"/>
              </a:rPr>
              <a:t>Models read code in seconds, but you can't bet a tax filing or a pricing run on unverified output. Extraction without proof is a demo, not a tool.</a:t>
            </a:r>
            <a:endParaRPr lang="en-US" sz="1200" dirty="0"/>
          </a:p>
        </p:txBody>
      </p:sp>
      <p:sp>
        <p:nvSpPr>
          <p:cNvPr id="16" name="Shape 11"/>
          <p:cNvSpPr/>
          <p:nvPr/>
        </p:nvSpPr>
        <p:spPr>
          <a:xfrm>
            <a:off x="6720840" y="1783080"/>
            <a:ext cx="4617720" cy="3977640"/>
          </a:xfrm>
          <a:prstGeom prst="rect">
            <a:avLst/>
          </a:prstGeom>
          <a:solidFill>
            <a:srgbClr val="FDFBF4"/>
          </a:solidFill>
          <a:ln w="12700">
            <a:solidFill>
              <a:srgbClr val="DCD4C0"/>
            </a:solidFill>
            <a:prstDash val="solid"/>
          </a:ln>
          <a:effectLst>
            <a:outerShdw sx="100000" sy="100000" kx="0" ky="0" algn="bl" rotWithShape="0" blurRad="88900" dist="25400" dir="2700000">
              <a:srgbClr val="000000">
                <a:alpha val="14000"/>
              </a:srgbClr>
            </a:outerShdw>
          </a:effectLst>
        </p:spPr>
      </p:sp>
      <p:sp>
        <p:nvSpPr>
          <p:cNvPr id="17" name="Text 12"/>
          <p:cNvSpPr/>
          <p:nvPr/>
        </p:nvSpPr>
        <p:spPr>
          <a:xfrm>
            <a:off x="6949440" y="1938528"/>
            <a:ext cx="4206240" cy="256032"/>
          </a:xfrm>
          <a:prstGeom prst="rect">
            <a:avLst/>
          </a:prstGeom>
          <a:noFill/>
          <a:ln/>
        </p:spPr>
        <p:txBody>
          <a:bodyPr wrap="square" lIns="0" tIns="0" rIns="0" bIns="0" rtlCol="0" anchor="ctr"/>
          <a:lstStyle/>
          <a:p>
            <a:pPr indent="0" marL="0">
              <a:buNone/>
            </a:pPr>
            <a:r>
              <a:rPr lang="en-US" sz="1050" b="1" dirty="0">
                <a:solidFill>
                  <a:srgbClr val="6F6757"/>
                </a:solidFill>
                <a:latin typeface="Courier New" pitchFamily="34" charset="0"/>
                <a:ea typeface="Courier New" pitchFamily="34" charset="-122"/>
                <a:cs typeface="Courier New" pitchFamily="34" charset="-120"/>
              </a:rPr>
              <a:t>legacy/sdlt_engine.py</a:t>
            </a:r>
            <a:endParaRPr lang="en-US" sz="1050" dirty="0"/>
          </a:p>
        </p:txBody>
      </p:sp>
      <p:sp>
        <p:nvSpPr>
          <p:cNvPr id="18" name="Shape 13"/>
          <p:cNvSpPr/>
          <p:nvPr/>
        </p:nvSpPr>
        <p:spPr>
          <a:xfrm>
            <a:off x="6949440" y="2286000"/>
            <a:ext cx="4160520" cy="0"/>
          </a:xfrm>
          <a:prstGeom prst="line">
            <a:avLst/>
          </a:prstGeom>
          <a:noFill/>
          <a:ln w="12700">
            <a:solidFill>
              <a:srgbClr val="DCD4C0"/>
            </a:solidFill>
            <a:prstDash val="solid"/>
          </a:ln>
        </p:spPr>
      </p:sp>
      <p:sp>
        <p:nvSpPr>
          <p:cNvPr id="19" name="Text 14"/>
          <p:cNvSpPr/>
          <p:nvPr/>
        </p:nvSpPr>
        <p:spPr>
          <a:xfrm>
            <a:off x="6949440" y="2395728"/>
            <a:ext cx="4206240" cy="2743200"/>
          </a:xfrm>
          <a:prstGeom prst="rect">
            <a:avLst/>
          </a:prstGeom>
          <a:noFill/>
          <a:ln/>
        </p:spPr>
        <p:txBody>
          <a:bodyPr wrap="square" lIns="0" tIns="0" rIns="0" bIns="0" rtlCol="0" anchor="ctr"/>
          <a:lstStyle/>
          <a:p>
            <a:pPr indent="0" marL="0">
              <a:lnSpc>
                <a:spcPct val="118000"/>
              </a:lnSpc>
              <a:buNone/>
            </a:pPr>
            <a:r>
              <a:rPr lang="en-US" sz="950" dirty="0">
                <a:solidFill>
                  <a:srgbClr val="211C12"/>
                </a:solidFill>
                <a:latin typeface="Courier New" pitchFamily="34" charset="0"/>
                <a:ea typeface="Courier New" pitchFamily="34" charset="-122"/>
                <a:cs typeface="Courier New" pitchFamily="34" charset="-120"/>
              </a:rPr>
              <a:t># port of SDLT_CALC.bas (mainframe FIN batch)</a:t>
            </a:r>
            <a:endParaRPr lang="en-US" sz="950" dirty="0"/>
          </a:p>
          <a:p>
            <a:pPr indent="0" marL="0">
              <a:lnSpc>
                <a:spcPct val="118000"/>
              </a:lnSpc>
              <a:buNone/>
            </a:pPr>
            <a:r>
              <a:rPr lang="en-US" sz="950" dirty="0">
                <a:solidFill>
                  <a:srgbClr val="211C12"/>
                </a:solidFill>
                <a:latin typeface="Courier New" pitchFamily="34" charset="0"/>
                <a:ea typeface="Courier New" pitchFamily="34" charset="-122"/>
                <a:cs typeface="Courier New" pitchFamily="34" charset="-120"/>
              </a:rPr>
              <a:t># DO NOT REFORMAT - audit reviews diffs vs VB6</a:t>
            </a:r>
            <a:endParaRPr lang="en-US" sz="950" dirty="0"/>
          </a:p>
          <a:p>
            <a:pPr indent="0" marL="0">
              <a:lnSpc>
                <a:spcPct val="118000"/>
              </a:lnSpc>
              <a:buNone/>
            </a:pPr>
            <a:r>
              <a:rPr lang="en-US" sz="950" dirty="0">
                <a:solidFill>
                  <a:srgbClr val="211C12"/>
                </a:solidFill>
                <a:latin typeface="Courier New" pitchFamily="34" charset="0"/>
                <a:ea typeface="Courier New" pitchFamily="34" charset="-122"/>
                <a:cs typeface="Courier New" pitchFamily="34" charset="-120"/>
              </a:rPr>
              <a:t>_T = {</a:t>
            </a:r>
            <a:endParaRPr lang="en-US" sz="950" dirty="0"/>
          </a:p>
          <a:p>
            <a:pPr indent="0" marL="0">
              <a:lnSpc>
                <a:spcPct val="118000"/>
              </a:lnSpc>
              <a:buNone/>
            </a:pPr>
            <a:r>
              <a:rPr lang="en-US" sz="950" dirty="0">
                <a:solidFill>
                  <a:srgbClr val="211C12"/>
                </a:solidFill>
                <a:latin typeface="Courier New" pitchFamily="34" charset="0"/>
                <a:ea typeface="Courier New" pitchFamily="34" charset="-122"/>
                <a:cs typeface="Courier New" pitchFamily="34" charset="-120"/>
              </a:rPr>
              <a:t>    "n": 250000,   # NRB-CEIL  &lt;- stale since the</a:t>
            </a:r>
            <a:endParaRPr lang="en-US" sz="950" dirty="0"/>
          </a:p>
          <a:p>
            <a:pPr indent="0" marL="0">
              <a:lnSpc>
                <a:spcPct val="118000"/>
              </a:lnSpc>
              <a:buNone/>
            </a:pPr>
            <a:r>
              <a:rPr lang="en-US" sz="950" dirty="0">
                <a:solidFill>
                  <a:srgbClr val="211C12"/>
                </a:solidFill>
                <a:latin typeface="Courier New" pitchFamily="34" charset="0"/>
                <a:ea typeface="Courier New" pitchFamily="34" charset="-122"/>
                <a:cs typeface="Courier New" pitchFamily="34" charset="-120"/>
              </a:rPr>
              <a:t>                   #   temporary relief ended</a:t>
            </a:r>
            <a:endParaRPr lang="en-US" sz="950" dirty="0"/>
          </a:p>
          <a:p>
            <a:pPr indent="0" marL="0">
              <a:lnSpc>
                <a:spcPct val="118000"/>
              </a:lnSpc>
              <a:buNone/>
            </a:pPr>
            <a:r>
              <a:rPr lang="en-US" sz="950" dirty="0">
                <a:solidFill>
                  <a:srgbClr val="211C12"/>
                </a:solidFill>
                <a:latin typeface="Courier New" pitchFamily="34" charset="0"/>
                <a:ea typeface="Courier New" pitchFamily="34" charset="-122"/>
                <a:cs typeface="Courier New" pitchFamily="34" charset="-120"/>
              </a:rPr>
              <a:t>    "m": 925000,   # MID-CEIL</a:t>
            </a:r>
            <a:endParaRPr lang="en-US" sz="950" dirty="0"/>
          </a:p>
          <a:p>
            <a:pPr indent="0" marL="0">
              <a:lnSpc>
                <a:spcPct val="118000"/>
              </a:lnSpc>
              <a:buNone/>
            </a:pPr>
            <a:r>
              <a:rPr lang="en-US" sz="950" dirty="0">
                <a:solidFill>
                  <a:srgbClr val="211C12"/>
                </a:solidFill>
                <a:latin typeface="Courier New" pitchFamily="34" charset="0"/>
                <a:ea typeface="Courier New" pitchFamily="34" charset="-122"/>
                <a:cs typeface="Courier New" pitchFamily="34" charset="-120"/>
              </a:rPr>
              <a:t>    "h": 1500000,  # HI-CEIL</a:t>
            </a:r>
            <a:endParaRPr lang="en-US" sz="950" dirty="0"/>
          </a:p>
          <a:p>
            <a:pPr indent="0" marL="0">
              <a:lnSpc>
                <a:spcPct val="118000"/>
              </a:lnSpc>
              <a:buNone/>
            </a:pPr>
            <a:r>
              <a:rPr lang="en-US" sz="950" dirty="0">
                <a:solidFill>
                  <a:srgbClr val="211C12"/>
                </a:solidFill>
                <a:latin typeface="Courier New" pitchFamily="34" charset="0"/>
                <a:ea typeface="Courier New" pitchFamily="34" charset="-122"/>
                <a:cs typeface="Courier New" pitchFamily="34" charset="-120"/>
              </a:rPr>
              <a:t>}</a:t>
            </a:r>
            <a:endParaRPr lang="en-US" sz="950" dirty="0"/>
          </a:p>
          <a:p>
            <a:pPr indent="0" marL="0">
              <a:lnSpc>
                <a:spcPct val="118000"/>
              </a:lnSpc>
              <a:buNone/>
            </a:pPr>
            <a:r>
              <a:rPr lang="en-US" sz="950" dirty="0">
                <a:solidFill>
                  <a:srgbClr val="211C12"/>
                </a:solidFill>
                <a:latin typeface="Courier New" pitchFamily="34" charset="0"/>
                <a:ea typeface="Courier New" pitchFamily="34" charset="-122"/>
                <a:cs typeface="Courier New" pitchFamily="34" charset="-120"/>
              </a:rPr>
              <a:t>def calc_v2(price, flag3=0):</a:t>
            </a:r>
            <a:endParaRPr lang="en-US" sz="950" dirty="0"/>
          </a:p>
          <a:p>
            <a:pPr indent="0" marL="0">
              <a:lnSpc>
                <a:spcPct val="118000"/>
              </a:lnSpc>
              <a:buNone/>
            </a:pPr>
            <a:r>
              <a:rPr lang="en-US" sz="950" dirty="0">
                <a:solidFill>
                  <a:srgbClr val="211C12"/>
                </a:solidFill>
                <a:latin typeface="Courier New" pitchFamily="34" charset="0"/>
                <a:ea typeface="Courier New" pitchFamily="34" charset="-122"/>
                <a:cs typeface="Courier New" pitchFamily="34" charset="-120"/>
              </a:rPr>
              <a:t>    # flag3: mainframe parity flag. batch</a:t>
            </a:r>
            <a:endParaRPr lang="en-US" sz="950" dirty="0"/>
          </a:p>
          <a:p>
            <a:pPr indent="0" marL="0">
              <a:lnSpc>
                <a:spcPct val="118000"/>
              </a:lnSpc>
              <a:buNone/>
            </a:pPr>
            <a:r>
              <a:rPr lang="en-US" sz="950" dirty="0">
                <a:solidFill>
                  <a:srgbClr val="211C12"/>
                </a:solidFill>
                <a:latin typeface="Courier New" pitchFamily="34" charset="0"/>
                <a:ea typeface="Courier New" pitchFamily="34" charset="-122"/>
                <a:cs typeface="Courier New" pitchFamily="34" charset="-120"/>
              </a:rPr>
              <a:t>    # sends 0. surcharge never landed (FIN-4102)</a:t>
            </a:r>
            <a:endParaRPr lang="en-US" sz="950" dirty="0"/>
          </a:p>
          <a:p>
            <a:pPr indent="0" marL="0">
              <a:lnSpc>
                <a:spcPct val="118000"/>
              </a:lnSpc>
              <a:buNone/>
            </a:pPr>
            <a:r>
              <a:rPr lang="en-US" sz="950" dirty="0">
                <a:solidFill>
                  <a:srgbClr val="211C12"/>
                </a:solidFill>
                <a:latin typeface="Courier New" pitchFamily="34" charset="0"/>
                <a:ea typeface="Courier New" pitchFamily="34" charset="-122"/>
                <a:cs typeface="Courier New" pitchFamily="34" charset="-120"/>
              </a:rPr>
              <a:t>    t = t + _seg(price, 0, _T["n"]) * ...</a:t>
            </a:r>
            <a:endParaRPr lang="en-US" sz="950" dirty="0"/>
          </a:p>
        </p:txBody>
      </p:sp>
      <p:sp>
        <p:nvSpPr>
          <p:cNvPr id="20" name="Text 15"/>
          <p:cNvSpPr/>
          <p:nvPr/>
        </p:nvSpPr>
        <p:spPr>
          <a:xfrm>
            <a:off x="6949440" y="5230368"/>
            <a:ext cx="4206240" cy="457200"/>
          </a:xfrm>
          <a:prstGeom prst="rect">
            <a:avLst/>
          </a:prstGeom>
          <a:noFill/>
          <a:ln/>
        </p:spPr>
        <p:txBody>
          <a:bodyPr wrap="square" lIns="0" tIns="0" rIns="0" bIns="0" rtlCol="0" anchor="ctr"/>
          <a:lstStyle/>
          <a:p>
            <a:pPr indent="0" marL="0">
              <a:buNone/>
            </a:pPr>
            <a:r>
              <a:rPr lang="en-US" sz="1050" i="1" dirty="0">
                <a:solidFill>
                  <a:srgbClr val="6F6757"/>
                </a:solidFill>
                <a:latin typeface="Calibri" pitchFamily="34" charset="0"/>
                <a:ea typeface="Calibri" pitchFamily="34" charset="-122"/>
                <a:cs typeface="Calibri" pitchFamily="34" charset="-120"/>
              </a:rPr>
              <a:t>153 lines, zero docs, one stale threshold — live in production. (The demo ships this engine.)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7"/>
        </a:solidFill>
      </p:bgPr>
    </p:bg>
    <p:spTree>
      <p:nvGrpSpPr>
        <p:cNvPr id="1" name=""/>
        <p:cNvGrpSpPr/>
        <p:nvPr/>
      </p:nvGrpSpPr>
      <p:grpSpPr>
        <a:xfrm>
          <a:off x="0" y="0"/>
          <a:ext cx="0" cy="0"/>
          <a:chOff x="0" y="0"/>
          <a:chExt cx="0" cy="0"/>
        </a:xfrm>
      </p:grpSpPr>
      <p:sp>
        <p:nvSpPr>
          <p:cNvPr id="2" name="Text 0"/>
          <p:cNvSpPr/>
          <p:nvPr/>
        </p:nvSpPr>
        <p:spPr>
          <a:xfrm>
            <a:off x="822960" y="457200"/>
            <a:ext cx="7315200" cy="274320"/>
          </a:xfrm>
          <a:prstGeom prst="rect">
            <a:avLst/>
          </a:prstGeom>
          <a:noFill/>
          <a:ln/>
        </p:spPr>
        <p:txBody>
          <a:bodyPr wrap="square" lIns="0" tIns="0" rIns="0" bIns="0" rtlCol="0" anchor="ctr"/>
          <a:lstStyle/>
          <a:p>
            <a:pPr indent="0" marL="0">
              <a:buNone/>
            </a:pPr>
            <a:r>
              <a:rPr lang="en-US" sz="1100" spc="300" kern="0" dirty="0">
                <a:solidFill>
                  <a:srgbClr val="1F5C3A"/>
                </a:solidFill>
                <a:latin typeface="Courier New" pitchFamily="34" charset="0"/>
                <a:ea typeface="Courier New" pitchFamily="34" charset="-122"/>
                <a:cs typeface="Courier New" pitchFamily="34" charset="-120"/>
              </a:rPr>
              <a:t>THE SOLUTION</a:t>
            </a:r>
            <a:endParaRPr lang="en-US" sz="1100" dirty="0"/>
          </a:p>
        </p:txBody>
      </p:sp>
      <p:sp>
        <p:nvSpPr>
          <p:cNvPr id="3" name="Text 1"/>
          <p:cNvSpPr/>
          <p:nvPr/>
        </p:nvSpPr>
        <p:spPr>
          <a:xfrm>
            <a:off x="822960" y="749808"/>
            <a:ext cx="10607040" cy="685800"/>
          </a:xfrm>
          <a:prstGeom prst="rect">
            <a:avLst/>
          </a:prstGeom>
          <a:noFill/>
          <a:ln/>
        </p:spPr>
        <p:txBody>
          <a:bodyPr wrap="square" lIns="0" tIns="0" rIns="0" bIns="0" rtlCol="0" anchor="ctr"/>
          <a:lstStyle/>
          <a:p>
            <a:pPr indent="0" marL="0">
              <a:buNone/>
            </a:pPr>
            <a:r>
              <a:rPr lang="en-US" sz="3000" b="1" dirty="0">
                <a:solidFill>
                  <a:srgbClr val="211C12"/>
                </a:solidFill>
                <a:latin typeface="Century Schoolbook" pitchFamily="34" charset="0"/>
                <a:ea typeface="Century Schoolbook" pitchFamily="34" charset="-122"/>
                <a:cs typeface="Century Schoolbook" pitchFamily="34" charset="-120"/>
              </a:rPr>
              <a:t>The model proposes. </a:t>
            </a:r>
            <a:pPr indent="0" marL="0">
              <a:buNone/>
            </a:pPr>
            <a:r>
              <a:rPr lang="en-US" sz="3000" b="1" dirty="0">
                <a:solidFill>
                  <a:srgbClr val="1F5C3A"/>
                </a:solidFill>
                <a:latin typeface="Century Schoolbook" pitchFamily="34" charset="0"/>
                <a:ea typeface="Century Schoolbook" pitchFamily="34" charset="-122"/>
                <a:cs typeface="Century Schoolbook" pitchFamily="34" charset="-120"/>
              </a:rPr>
              <a:t>Deterministic Python disposes.</a:t>
            </a:r>
            <a:endParaRPr lang="en-US" sz="3000" dirty="0"/>
          </a:p>
        </p:txBody>
      </p:sp>
      <p:sp>
        <p:nvSpPr>
          <p:cNvPr id="4" name="Shape 2"/>
          <p:cNvSpPr/>
          <p:nvPr/>
        </p:nvSpPr>
        <p:spPr>
          <a:xfrm>
            <a:off x="822960" y="1783080"/>
            <a:ext cx="3401568" cy="2999232"/>
          </a:xfrm>
          <a:prstGeom prst="rect">
            <a:avLst/>
          </a:prstGeom>
          <a:solidFill>
            <a:srgbClr val="FDFBF4"/>
          </a:solidFill>
          <a:ln w="12700">
            <a:solidFill>
              <a:srgbClr val="DCD4C0"/>
            </a:solidFill>
            <a:prstDash val="solid"/>
          </a:ln>
          <a:effectLst>
            <a:outerShdw sx="100000" sy="100000" kx="0" ky="0" algn="bl" rotWithShape="0" blurRad="88900" dist="25400" dir="2700000">
              <a:srgbClr val="000000">
                <a:alpha val="14000"/>
              </a:srgbClr>
            </a:outerShdw>
          </a:effectLst>
        </p:spPr>
      </p:sp>
      <p:sp>
        <p:nvSpPr>
          <p:cNvPr id="5" name="Text 3"/>
          <p:cNvSpPr/>
          <p:nvPr/>
        </p:nvSpPr>
        <p:spPr>
          <a:xfrm>
            <a:off x="1051560" y="1965960"/>
            <a:ext cx="2926080" cy="256032"/>
          </a:xfrm>
          <a:prstGeom prst="rect">
            <a:avLst/>
          </a:prstGeom>
          <a:noFill/>
          <a:ln/>
        </p:spPr>
        <p:txBody>
          <a:bodyPr wrap="square" lIns="0" tIns="0" rIns="0" bIns="0" rtlCol="0" anchor="ctr"/>
          <a:lstStyle/>
          <a:p>
            <a:pPr indent="0" marL="0">
              <a:buNone/>
            </a:pPr>
            <a:r>
              <a:rPr lang="en-US" sz="1050" b="1" spc="200" kern="0" dirty="0">
                <a:solidFill>
                  <a:srgbClr val="1F5C3A"/>
                </a:solidFill>
                <a:latin typeface="Courier New" pitchFamily="34" charset="0"/>
                <a:ea typeface="Courier New" pitchFamily="34" charset="-122"/>
                <a:cs typeface="Courier New" pitchFamily="34" charset="-120"/>
              </a:rPr>
              <a:t>01 · EXTRACT</a:t>
            </a:r>
            <a:endParaRPr lang="en-US" sz="1050" dirty="0"/>
          </a:p>
        </p:txBody>
      </p:sp>
      <p:sp>
        <p:nvSpPr>
          <p:cNvPr id="6" name="Text 4"/>
          <p:cNvSpPr/>
          <p:nvPr/>
        </p:nvSpPr>
        <p:spPr>
          <a:xfrm>
            <a:off x="1051560" y="2267712"/>
            <a:ext cx="2971800" cy="685800"/>
          </a:xfrm>
          <a:prstGeom prst="rect">
            <a:avLst/>
          </a:prstGeom>
          <a:noFill/>
          <a:ln/>
        </p:spPr>
        <p:txBody>
          <a:bodyPr wrap="square" lIns="0" tIns="0" rIns="0" bIns="0" rtlCol="0" anchor="ctr"/>
          <a:lstStyle/>
          <a:p>
            <a:pPr indent="0" marL="0">
              <a:buNone/>
            </a:pPr>
            <a:r>
              <a:rPr lang="en-US" sz="1650" b="1" dirty="0">
                <a:solidFill>
                  <a:srgbClr val="211C12"/>
                </a:solidFill>
                <a:latin typeface="Century Schoolbook" pitchFamily="34" charset="0"/>
                <a:ea typeface="Century Schoolbook" pitchFamily="34" charset="-122"/>
                <a:cs typeface="Century Schoolbook" pitchFamily="34" charset="-120"/>
              </a:rPr>
              <a:t>Read the black box</a:t>
            </a:r>
            <a:endParaRPr lang="en-US" sz="1650" dirty="0"/>
          </a:p>
        </p:txBody>
      </p:sp>
      <p:sp>
        <p:nvSpPr>
          <p:cNvPr id="7" name="Text 5"/>
          <p:cNvSpPr/>
          <p:nvPr/>
        </p:nvSpPr>
        <p:spPr>
          <a:xfrm>
            <a:off x="1051560" y="2999232"/>
            <a:ext cx="2971800" cy="1371600"/>
          </a:xfrm>
          <a:prstGeom prst="rect">
            <a:avLst/>
          </a:prstGeom>
          <a:noFill/>
          <a:ln/>
        </p:spPr>
        <p:txBody>
          <a:bodyPr wrap="square" lIns="0" tIns="0" rIns="0" bIns="0" rtlCol="0" anchor="ctr"/>
          <a:lstStyle/>
          <a:p>
            <a:pPr indent="0" marL="0">
              <a:lnSpc>
                <a:spcPct val="110000"/>
              </a:lnSpc>
              <a:buNone/>
            </a:pPr>
            <a:r>
              <a:rPr lang="en-US" sz="1100" dirty="0">
                <a:solidFill>
                  <a:srgbClr val="6F6757"/>
                </a:solidFill>
                <a:latin typeface="Calibri" pitchFamily="34" charset="0"/>
                <a:ea typeface="Calibri" pitchFamily="34" charset="-122"/>
                <a:cs typeface="Calibri" pitchFamily="34" charset="-120"/>
              </a:rPr>
              <a:t>The LLM proposes a strict-JSON rule spec from the legacy source — bands, conditions, plain-English summary, honest assumptions. Schema-validated, exact errors fed back, max 3 attempts.</a:t>
            </a:r>
            <a:endParaRPr lang="en-US" sz="1100" dirty="0"/>
          </a:p>
        </p:txBody>
      </p:sp>
      <p:sp>
        <p:nvSpPr>
          <p:cNvPr id="8" name="Text 6"/>
          <p:cNvSpPr/>
          <p:nvPr/>
        </p:nvSpPr>
        <p:spPr>
          <a:xfrm>
            <a:off x="1051560" y="4407408"/>
            <a:ext cx="2926080" cy="237744"/>
          </a:xfrm>
          <a:prstGeom prst="rect">
            <a:avLst/>
          </a:prstGeom>
          <a:noFill/>
          <a:ln/>
        </p:spPr>
        <p:txBody>
          <a:bodyPr wrap="square" lIns="0" tIns="0" rIns="0" bIns="0" rtlCol="0" anchor="ctr"/>
          <a:lstStyle/>
          <a:p>
            <a:pPr indent="0" marL="0">
              <a:buNone/>
            </a:pPr>
            <a:r>
              <a:rPr lang="en-US" sz="950" i="1" dirty="0">
                <a:solidFill>
                  <a:srgbClr val="7D5A10"/>
                </a:solidFill>
                <a:latin typeface="Courier New" pitchFamily="34" charset="0"/>
                <a:ea typeface="Courier New" pitchFamily="34" charset="-122"/>
                <a:cs typeface="Courier New" pitchFamily="34" charset="-120"/>
              </a:rPr>
              <a:t>LLM: proposes only</a:t>
            </a:r>
            <a:endParaRPr lang="en-US" sz="950" dirty="0"/>
          </a:p>
        </p:txBody>
      </p:sp>
      <p:sp>
        <p:nvSpPr>
          <p:cNvPr id="9" name="Shape 7"/>
          <p:cNvSpPr/>
          <p:nvPr/>
        </p:nvSpPr>
        <p:spPr>
          <a:xfrm>
            <a:off x="4279392" y="3246120"/>
            <a:ext cx="292608" cy="0"/>
          </a:xfrm>
          <a:prstGeom prst="line">
            <a:avLst/>
          </a:prstGeom>
          <a:noFill/>
          <a:ln w="25400">
            <a:solidFill>
              <a:srgbClr val="B3A88E"/>
            </a:solidFill>
            <a:prstDash val="solid"/>
            <a:tailEnd type="triangle"/>
          </a:ln>
        </p:spPr>
      </p:sp>
      <p:sp>
        <p:nvSpPr>
          <p:cNvPr id="10" name="Shape 8"/>
          <p:cNvSpPr/>
          <p:nvPr/>
        </p:nvSpPr>
        <p:spPr>
          <a:xfrm>
            <a:off x="4626864" y="1783080"/>
            <a:ext cx="3401568" cy="2999232"/>
          </a:xfrm>
          <a:prstGeom prst="rect">
            <a:avLst/>
          </a:prstGeom>
          <a:solidFill>
            <a:srgbClr val="FDFBF4"/>
          </a:solidFill>
          <a:ln w="12700">
            <a:solidFill>
              <a:srgbClr val="DCD4C0"/>
            </a:solidFill>
            <a:prstDash val="solid"/>
          </a:ln>
          <a:effectLst>
            <a:outerShdw sx="100000" sy="100000" kx="0" ky="0" algn="bl" rotWithShape="0" blurRad="88900" dist="25400" dir="2700000">
              <a:srgbClr val="000000">
                <a:alpha val="14000"/>
              </a:srgbClr>
            </a:outerShdw>
          </a:effectLst>
        </p:spPr>
      </p:sp>
      <p:sp>
        <p:nvSpPr>
          <p:cNvPr id="11" name="Text 9"/>
          <p:cNvSpPr/>
          <p:nvPr/>
        </p:nvSpPr>
        <p:spPr>
          <a:xfrm>
            <a:off x="4855464" y="1965960"/>
            <a:ext cx="2926080" cy="256032"/>
          </a:xfrm>
          <a:prstGeom prst="rect">
            <a:avLst/>
          </a:prstGeom>
          <a:noFill/>
          <a:ln/>
        </p:spPr>
        <p:txBody>
          <a:bodyPr wrap="square" lIns="0" tIns="0" rIns="0" bIns="0" rtlCol="0" anchor="ctr"/>
          <a:lstStyle/>
          <a:p>
            <a:pPr indent="0" marL="0">
              <a:buNone/>
            </a:pPr>
            <a:r>
              <a:rPr lang="en-US" sz="1050" b="1" spc="200" kern="0" dirty="0">
                <a:solidFill>
                  <a:srgbClr val="1F5C3A"/>
                </a:solidFill>
                <a:latin typeface="Courier New" pitchFamily="34" charset="0"/>
                <a:ea typeface="Courier New" pitchFamily="34" charset="-122"/>
                <a:cs typeface="Courier New" pitchFamily="34" charset="-120"/>
              </a:rPr>
              <a:t>02 · PROVE</a:t>
            </a:r>
            <a:endParaRPr lang="en-US" sz="1050" dirty="0"/>
          </a:p>
        </p:txBody>
      </p:sp>
      <p:sp>
        <p:nvSpPr>
          <p:cNvPr id="12" name="Text 10"/>
          <p:cNvSpPr/>
          <p:nvPr/>
        </p:nvSpPr>
        <p:spPr>
          <a:xfrm>
            <a:off x="4855464" y="2267712"/>
            <a:ext cx="2971800" cy="685800"/>
          </a:xfrm>
          <a:prstGeom prst="rect">
            <a:avLst/>
          </a:prstGeom>
          <a:noFill/>
          <a:ln/>
        </p:spPr>
        <p:txBody>
          <a:bodyPr wrap="square" lIns="0" tIns="0" rIns="0" bIns="0" rtlCol="0" anchor="ctr"/>
          <a:lstStyle/>
          <a:p>
            <a:pPr indent="0" marL="0">
              <a:buNone/>
            </a:pPr>
            <a:r>
              <a:rPr lang="en-US" sz="1650" b="1" dirty="0">
                <a:solidFill>
                  <a:srgbClr val="211C12"/>
                </a:solidFill>
                <a:latin typeface="Century Schoolbook" pitchFamily="34" charset="0"/>
                <a:ea typeface="Century Schoolbook" pitchFamily="34" charset="-122"/>
                <a:cs typeface="Century Schoolbook" pitchFamily="34" charset="-120"/>
              </a:rPr>
              <a:t>Replay, don't trust</a:t>
            </a:r>
            <a:endParaRPr lang="en-US" sz="1650" dirty="0"/>
          </a:p>
        </p:txBody>
      </p:sp>
      <p:sp>
        <p:nvSpPr>
          <p:cNvPr id="13" name="Text 11"/>
          <p:cNvSpPr/>
          <p:nvPr/>
        </p:nvSpPr>
        <p:spPr>
          <a:xfrm>
            <a:off x="4855464" y="2999232"/>
            <a:ext cx="2971800" cy="1371600"/>
          </a:xfrm>
          <a:prstGeom prst="rect">
            <a:avLst/>
          </a:prstGeom>
          <a:noFill/>
          <a:ln/>
        </p:spPr>
        <p:txBody>
          <a:bodyPr wrap="square" lIns="0" tIns="0" rIns="0" bIns="0" rtlCol="0" anchor="ctr"/>
          <a:lstStyle/>
          <a:p>
            <a:pPr indent="0" marL="0">
              <a:lnSpc>
                <a:spcPct val="110000"/>
              </a:lnSpc>
              <a:buNone/>
            </a:pPr>
            <a:r>
              <a:rPr lang="en-US" sz="1100" dirty="0">
                <a:solidFill>
                  <a:srgbClr val="6F6757"/>
                </a:solidFill>
                <a:latin typeface="Calibri" pitchFamily="34" charset="0"/>
                <a:ea typeface="Calibri" pitchFamily="34" charset="-122"/>
                <a:cs typeface="Calibri" pitchFamily="34" charset="-120"/>
              </a:rPr>
              <a:t>Every one of 21,990 real transactions runs through the legacy code, the extracted rule, and the statutory oracle. Fidelity and drift are counted, not claimed.</a:t>
            </a:r>
            <a:endParaRPr lang="en-US" sz="1100" dirty="0"/>
          </a:p>
        </p:txBody>
      </p:sp>
      <p:sp>
        <p:nvSpPr>
          <p:cNvPr id="14" name="Text 12"/>
          <p:cNvSpPr/>
          <p:nvPr/>
        </p:nvSpPr>
        <p:spPr>
          <a:xfrm>
            <a:off x="4855464" y="4407408"/>
            <a:ext cx="2926080" cy="237744"/>
          </a:xfrm>
          <a:prstGeom prst="rect">
            <a:avLst/>
          </a:prstGeom>
          <a:noFill/>
          <a:ln/>
        </p:spPr>
        <p:txBody>
          <a:bodyPr wrap="square" lIns="0" tIns="0" rIns="0" bIns="0" rtlCol="0" anchor="ctr"/>
          <a:lstStyle/>
          <a:p>
            <a:pPr indent="0" marL="0">
              <a:buNone/>
            </a:pPr>
            <a:r>
              <a:rPr lang="en-US" sz="950" i="1" dirty="0">
                <a:solidFill>
                  <a:srgbClr val="7D5A10"/>
                </a:solidFill>
                <a:latin typeface="Courier New" pitchFamily="34" charset="0"/>
                <a:ea typeface="Courier New" pitchFamily="34" charset="-122"/>
                <a:cs typeface="Courier New" pitchFamily="34" charset="-120"/>
              </a:rPr>
              <a:t>pure Python, no model</a:t>
            </a:r>
            <a:endParaRPr lang="en-US" sz="950" dirty="0"/>
          </a:p>
        </p:txBody>
      </p:sp>
      <p:sp>
        <p:nvSpPr>
          <p:cNvPr id="15" name="Shape 13"/>
          <p:cNvSpPr/>
          <p:nvPr/>
        </p:nvSpPr>
        <p:spPr>
          <a:xfrm>
            <a:off x="8083296" y="3246120"/>
            <a:ext cx="292608" cy="0"/>
          </a:xfrm>
          <a:prstGeom prst="line">
            <a:avLst/>
          </a:prstGeom>
          <a:noFill/>
          <a:ln w="25400">
            <a:solidFill>
              <a:srgbClr val="B3A88E"/>
            </a:solidFill>
            <a:prstDash val="solid"/>
            <a:tailEnd type="triangle"/>
          </a:ln>
        </p:spPr>
      </p:sp>
      <p:sp>
        <p:nvSpPr>
          <p:cNvPr id="16" name="Shape 14"/>
          <p:cNvSpPr/>
          <p:nvPr/>
        </p:nvSpPr>
        <p:spPr>
          <a:xfrm>
            <a:off x="8430768" y="1783080"/>
            <a:ext cx="3401568" cy="2999232"/>
          </a:xfrm>
          <a:prstGeom prst="rect">
            <a:avLst/>
          </a:prstGeom>
          <a:solidFill>
            <a:srgbClr val="FDFBF4"/>
          </a:solidFill>
          <a:ln w="12700">
            <a:solidFill>
              <a:srgbClr val="DCD4C0"/>
            </a:solidFill>
            <a:prstDash val="solid"/>
          </a:ln>
          <a:effectLst>
            <a:outerShdw sx="100000" sy="100000" kx="0" ky="0" algn="bl" rotWithShape="0" blurRad="88900" dist="25400" dir="2700000">
              <a:srgbClr val="000000">
                <a:alpha val="14000"/>
              </a:srgbClr>
            </a:outerShdw>
          </a:effectLst>
        </p:spPr>
      </p:sp>
      <p:sp>
        <p:nvSpPr>
          <p:cNvPr id="17" name="Text 15"/>
          <p:cNvSpPr/>
          <p:nvPr/>
        </p:nvSpPr>
        <p:spPr>
          <a:xfrm>
            <a:off x="8659368" y="1965960"/>
            <a:ext cx="2926080" cy="256032"/>
          </a:xfrm>
          <a:prstGeom prst="rect">
            <a:avLst/>
          </a:prstGeom>
          <a:noFill/>
          <a:ln/>
        </p:spPr>
        <p:txBody>
          <a:bodyPr wrap="square" lIns="0" tIns="0" rIns="0" bIns="0" rtlCol="0" anchor="ctr"/>
          <a:lstStyle/>
          <a:p>
            <a:pPr indent="0" marL="0">
              <a:buNone/>
            </a:pPr>
            <a:r>
              <a:rPr lang="en-US" sz="1050" b="1" spc="200" kern="0" dirty="0">
                <a:solidFill>
                  <a:srgbClr val="1F5C3A"/>
                </a:solidFill>
                <a:latin typeface="Courier New" pitchFamily="34" charset="0"/>
                <a:ea typeface="Courier New" pitchFamily="34" charset="-122"/>
                <a:cs typeface="Courier New" pitchFamily="34" charset="-120"/>
              </a:rPr>
              <a:t>03 · CHANGE</a:t>
            </a:r>
            <a:endParaRPr lang="en-US" sz="1050" dirty="0"/>
          </a:p>
        </p:txBody>
      </p:sp>
      <p:sp>
        <p:nvSpPr>
          <p:cNvPr id="18" name="Text 16"/>
          <p:cNvSpPr/>
          <p:nvPr/>
        </p:nvSpPr>
        <p:spPr>
          <a:xfrm>
            <a:off x="8659368" y="2267712"/>
            <a:ext cx="2971800" cy="685800"/>
          </a:xfrm>
          <a:prstGeom prst="rect">
            <a:avLst/>
          </a:prstGeom>
          <a:noFill/>
          <a:ln/>
        </p:spPr>
        <p:txBody>
          <a:bodyPr wrap="square" lIns="0" tIns="0" rIns="0" bIns="0" rtlCol="0" anchor="ctr"/>
          <a:lstStyle/>
          <a:p>
            <a:pPr indent="0" marL="0">
              <a:buNone/>
            </a:pPr>
            <a:r>
              <a:rPr lang="en-US" sz="1650" b="1" dirty="0">
                <a:solidFill>
                  <a:srgbClr val="211C12"/>
                </a:solidFill>
                <a:latin typeface="Century Schoolbook" pitchFamily="34" charset="0"/>
                <a:ea typeface="Century Schoolbook" pitchFamily="34" charset="-122"/>
                <a:cs typeface="Century Schoolbook" pitchFamily="34" charset="-120"/>
              </a:rPr>
              <a:t>Edit like a human, ship like an engineer</a:t>
            </a:r>
            <a:endParaRPr lang="en-US" sz="1650" dirty="0"/>
          </a:p>
        </p:txBody>
      </p:sp>
      <p:sp>
        <p:nvSpPr>
          <p:cNvPr id="19" name="Text 17"/>
          <p:cNvSpPr/>
          <p:nvPr/>
        </p:nvSpPr>
        <p:spPr>
          <a:xfrm>
            <a:off x="8659368" y="2999232"/>
            <a:ext cx="2971800" cy="1371600"/>
          </a:xfrm>
          <a:prstGeom prst="rect">
            <a:avLst/>
          </a:prstGeom>
          <a:noFill/>
          <a:ln/>
        </p:spPr>
        <p:txBody>
          <a:bodyPr wrap="square" lIns="0" tIns="0" rIns="0" bIns="0" rtlCol="0" anchor="ctr"/>
          <a:lstStyle/>
          <a:p>
            <a:pPr indent="0" marL="0">
              <a:lnSpc>
                <a:spcPct val="110000"/>
              </a:lnSpc>
              <a:buNone/>
            </a:pPr>
            <a:r>
              <a:rPr lang="en-US" sz="1100" dirty="0">
                <a:solidFill>
                  <a:srgbClr val="6F6757"/>
                </a:solidFill>
                <a:latin typeface="Calibri" pitchFamily="34" charset="0"/>
                <a:ea typeface="Calibri" pitchFamily="34" charset="-122"/>
                <a:cs typeface="Calibri" pitchFamily="34" charset="-120"/>
              </a:rPr>
              <a:t>A plain-English edit becomes a quantified £ impact, then a unified diff on a guarded copy — verified by pytest cases generated from the same historical data.</a:t>
            </a:r>
            <a:endParaRPr lang="en-US" sz="1100" dirty="0"/>
          </a:p>
        </p:txBody>
      </p:sp>
      <p:sp>
        <p:nvSpPr>
          <p:cNvPr id="20" name="Text 18"/>
          <p:cNvSpPr/>
          <p:nvPr/>
        </p:nvSpPr>
        <p:spPr>
          <a:xfrm>
            <a:off x="8659368" y="4407408"/>
            <a:ext cx="2926080" cy="237744"/>
          </a:xfrm>
          <a:prstGeom prst="rect">
            <a:avLst/>
          </a:prstGeom>
          <a:noFill/>
          <a:ln/>
        </p:spPr>
        <p:txBody>
          <a:bodyPr wrap="square" lIns="0" tIns="0" rIns="0" bIns="0" rtlCol="0" anchor="ctr"/>
          <a:lstStyle/>
          <a:p>
            <a:pPr indent="0" marL="0">
              <a:buNone/>
            </a:pPr>
            <a:r>
              <a:rPr lang="en-US" sz="950" i="1" dirty="0">
                <a:solidFill>
                  <a:srgbClr val="7D5A10"/>
                </a:solidFill>
                <a:latin typeface="Courier New" pitchFamily="34" charset="0"/>
                <a:ea typeface="Courier New" pitchFamily="34" charset="-122"/>
                <a:cs typeface="Courier New" pitchFamily="34" charset="-120"/>
              </a:rPr>
              <a:t>pytest is the judge</a:t>
            </a:r>
            <a:endParaRPr lang="en-US" sz="950" dirty="0"/>
          </a:p>
        </p:txBody>
      </p:sp>
      <p:sp>
        <p:nvSpPr>
          <p:cNvPr id="21" name="Shape 19"/>
          <p:cNvSpPr/>
          <p:nvPr/>
        </p:nvSpPr>
        <p:spPr>
          <a:xfrm>
            <a:off x="822960" y="5138928"/>
            <a:ext cx="10515600" cy="1051560"/>
          </a:xfrm>
          <a:prstGeom prst="rect">
            <a:avLst/>
          </a:prstGeom>
          <a:solidFill>
            <a:srgbClr val="E4ECDF"/>
          </a:solidFill>
          <a:ln w="12700">
            <a:solidFill>
              <a:srgbClr val="1F5C3A"/>
            </a:solidFill>
            <a:prstDash val="solid"/>
          </a:ln>
        </p:spPr>
      </p:sp>
      <p:sp>
        <p:nvSpPr>
          <p:cNvPr id="22" name="Shape 20"/>
          <p:cNvSpPr/>
          <p:nvPr/>
        </p:nvSpPr>
        <p:spPr>
          <a:xfrm>
            <a:off x="1097280" y="5381244"/>
            <a:ext cx="603504" cy="603504"/>
          </a:xfrm>
          <a:prstGeom prst="ellipse">
            <a:avLst/>
          </a:prstGeom>
          <a:solidFill>
            <a:srgbClr val="FDFBF4"/>
          </a:solidFill>
          <a:ln w="12700">
            <a:solidFill>
              <a:srgbClr val="1F5C3A"/>
            </a:solidFill>
            <a:prstDash val="solid"/>
          </a:ln>
        </p:spPr>
      </p:sp>
      <p:pic>
        <p:nvPicPr>
          <p:cNvPr id="23" name="Image 0" descr="preencoded.png">    </p:cNvPr>
          <p:cNvPicPr>
            <a:picLocks noChangeAspect="1"/>
          </p:cNvPicPr>
          <p:nvPr/>
        </p:nvPicPr>
        <p:blipFill>
          <a:blip r:embed="rId1"/>
          <a:stretch>
            <a:fillRect/>
          </a:stretch>
        </p:blipFill>
        <p:spPr>
          <a:xfrm>
            <a:off x="1252728" y="5536692"/>
            <a:ext cx="292608" cy="292608"/>
          </a:xfrm>
          <a:prstGeom prst="rect">
            <a:avLst/>
          </a:prstGeom>
        </p:spPr>
      </p:pic>
      <p:sp>
        <p:nvSpPr>
          <p:cNvPr id="24" name="Text 21"/>
          <p:cNvSpPr/>
          <p:nvPr/>
        </p:nvSpPr>
        <p:spPr>
          <a:xfrm>
            <a:off x="1920240" y="5303520"/>
            <a:ext cx="9052560" cy="320040"/>
          </a:xfrm>
          <a:prstGeom prst="rect">
            <a:avLst/>
          </a:prstGeom>
          <a:noFill/>
          <a:ln/>
        </p:spPr>
        <p:txBody>
          <a:bodyPr wrap="square" lIns="0" tIns="0" rIns="0" bIns="0" rtlCol="0" anchor="ctr"/>
          <a:lstStyle/>
          <a:p>
            <a:pPr indent="0" marL="0">
              <a:buNone/>
            </a:pPr>
            <a:r>
              <a:rPr lang="en-US" sz="1600" b="1" dirty="0">
                <a:solidFill>
                  <a:srgbClr val="211C12"/>
                </a:solidFill>
                <a:latin typeface="Century Schoolbook" pitchFamily="34" charset="0"/>
                <a:ea typeface="Century Schoolbook" pitchFamily="34" charset="-122"/>
                <a:cs typeface="Century Schoolbook" pitchFamily="34" charset="-120"/>
              </a:rPr>
              <a:t>An approval gate at every step.</a:t>
            </a:r>
            <a:endParaRPr lang="en-US" sz="1600" dirty="0"/>
          </a:p>
        </p:txBody>
      </p:sp>
      <p:sp>
        <p:nvSpPr>
          <p:cNvPr id="25" name="Text 22"/>
          <p:cNvSpPr/>
          <p:nvPr/>
        </p:nvSpPr>
        <p:spPr>
          <a:xfrm>
            <a:off x="1920240" y="5650992"/>
            <a:ext cx="9144000" cy="457200"/>
          </a:xfrm>
          <a:prstGeom prst="rect">
            <a:avLst/>
          </a:prstGeom>
          <a:noFill/>
          <a:ln/>
        </p:spPr>
        <p:txBody>
          <a:bodyPr wrap="square" lIns="0" tIns="0" rIns="0" bIns="0" rtlCol="0" anchor="ctr"/>
          <a:lstStyle/>
          <a:p>
            <a:pPr indent="0" marL="0">
              <a:buNone/>
            </a:pPr>
            <a:r>
              <a:rPr lang="en-US" sz="1150" dirty="0">
                <a:solidFill>
                  <a:srgbClr val="6F6757"/>
                </a:solidFill>
                <a:latin typeface="Calibri" pitchFamily="34" charset="0"/>
                <a:ea typeface="Calibri" pitchFamily="34" charset="-122"/>
                <a:cs typeface="Calibri" pitchFamily="34" charset="-120"/>
              </a:rPr>
              <a:t>Nothing runs, and nothing is written, without an explicit human Approve. Reject halts everything downstream. The original file is never touched.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7"/>
        </a:solidFill>
      </p:bgPr>
    </p:bg>
    <p:spTree>
      <p:nvGrpSpPr>
        <p:cNvPr id="1" name=""/>
        <p:cNvGrpSpPr/>
        <p:nvPr/>
      </p:nvGrpSpPr>
      <p:grpSpPr>
        <a:xfrm>
          <a:off x="0" y="0"/>
          <a:ext cx="0" cy="0"/>
          <a:chOff x="0" y="0"/>
          <a:chExt cx="0" cy="0"/>
        </a:xfrm>
      </p:grpSpPr>
      <p:sp>
        <p:nvSpPr>
          <p:cNvPr id="2" name="Text 0"/>
          <p:cNvSpPr/>
          <p:nvPr/>
        </p:nvSpPr>
        <p:spPr>
          <a:xfrm>
            <a:off x="822960" y="457200"/>
            <a:ext cx="7315200" cy="274320"/>
          </a:xfrm>
          <a:prstGeom prst="rect">
            <a:avLst/>
          </a:prstGeom>
          <a:noFill/>
          <a:ln/>
        </p:spPr>
        <p:txBody>
          <a:bodyPr wrap="square" lIns="0" tIns="0" rIns="0" bIns="0" rtlCol="0" anchor="ctr"/>
          <a:lstStyle/>
          <a:p>
            <a:pPr indent="0" marL="0">
              <a:buNone/>
            </a:pPr>
            <a:r>
              <a:rPr lang="en-US" sz="1100" spc="300" kern="0" dirty="0">
                <a:solidFill>
                  <a:srgbClr val="211C12"/>
                </a:solidFill>
                <a:latin typeface="Courier New" pitchFamily="34" charset="0"/>
                <a:ea typeface="Courier New" pitchFamily="34" charset="-122"/>
                <a:cs typeface="Courier New" pitchFamily="34" charset="-120"/>
              </a:rPr>
              <a:t>THE PRODUCT</a:t>
            </a:r>
            <a:endParaRPr lang="en-US" sz="1100" dirty="0"/>
          </a:p>
        </p:txBody>
      </p:sp>
      <p:sp>
        <p:nvSpPr>
          <p:cNvPr id="3" name="Text 1"/>
          <p:cNvSpPr/>
          <p:nvPr/>
        </p:nvSpPr>
        <p:spPr>
          <a:xfrm>
            <a:off x="822960" y="749808"/>
            <a:ext cx="10607040" cy="640080"/>
          </a:xfrm>
          <a:prstGeom prst="rect">
            <a:avLst/>
          </a:prstGeom>
          <a:noFill/>
          <a:ln/>
        </p:spPr>
        <p:txBody>
          <a:bodyPr wrap="square" lIns="0" tIns="0" rIns="0" bIns="0" rtlCol="0" anchor="ctr"/>
          <a:lstStyle/>
          <a:p>
            <a:pPr indent="0" marL="0">
              <a:buNone/>
            </a:pPr>
            <a:r>
              <a:rPr lang="en-US" sz="3000" b="1" dirty="0">
                <a:solidFill>
                  <a:srgbClr val="211C12"/>
                </a:solidFill>
                <a:latin typeface="Century Schoolbook" pitchFamily="34" charset="0"/>
                <a:ea typeface="Century Schoolbook" pitchFamily="34" charset="-122"/>
                <a:cs typeface="Century Schoolbook" pitchFamily="34" charset="-120"/>
              </a:rPr>
              <a:t>Proof on screen — the hero moment.</a:t>
            </a:r>
            <a:endParaRPr lang="en-US" sz="3000" dirty="0"/>
          </a:p>
        </p:txBody>
      </p:sp>
      <p:pic>
        <p:nvPicPr>
          <p:cNvPr id="4" name="Image 0" descr="docs/prove.png">    </p:cNvPr>
          <p:cNvPicPr>
            <a:picLocks noChangeAspect="1"/>
          </p:cNvPicPr>
          <p:nvPr/>
        </p:nvPicPr>
        <p:blipFill>
          <a:blip r:embed="rId1"/>
          <a:stretch>
            <a:fillRect/>
          </a:stretch>
        </p:blipFill>
        <p:spPr>
          <a:xfrm>
            <a:off x="822960" y="1645920"/>
            <a:ext cx="7406640" cy="4166006"/>
          </a:xfrm>
          <a:prstGeom prst="rect">
            <a:avLst/>
          </a:prstGeom>
          <a:effectLst>
            <a:outerShdw sx="100000" sy="100000" kx="0" ky="0" algn="bl" rotWithShape="0" blurRad="88900" dist="25400" dir="2700000">
              <a:srgbClr val="000000">
                <a:alpha val="14000"/>
              </a:srgbClr>
            </a:outerShdw>
          </a:effectLst>
        </p:spPr>
      </p:pic>
      <p:sp>
        <p:nvSpPr>
          <p:cNvPr id="5" name="Shape 2"/>
          <p:cNvSpPr/>
          <p:nvPr/>
        </p:nvSpPr>
        <p:spPr>
          <a:xfrm>
            <a:off x="822960" y="1645920"/>
            <a:ext cx="7406640" cy="4166006"/>
          </a:xfrm>
          <a:prstGeom prst="rect">
            <a:avLst/>
          </a:prstGeom>
          <a:ln w="12700">
            <a:solidFill>
              <a:srgbClr val="B3A88E"/>
            </a:solidFill>
            <a:prstDash val="solid"/>
          </a:ln>
        </p:spPr>
      </p:sp>
      <p:sp>
        <p:nvSpPr>
          <p:cNvPr id="6" name="Text 3"/>
          <p:cNvSpPr/>
          <p:nvPr/>
        </p:nvSpPr>
        <p:spPr>
          <a:xfrm>
            <a:off x="8641080" y="1691640"/>
            <a:ext cx="2743200" cy="566928"/>
          </a:xfrm>
          <a:prstGeom prst="rect">
            <a:avLst/>
          </a:prstGeom>
          <a:noFill/>
          <a:ln/>
        </p:spPr>
        <p:txBody>
          <a:bodyPr wrap="square" lIns="0" tIns="0" rIns="0" bIns="0" rtlCol="0" anchor="ctr"/>
          <a:lstStyle/>
          <a:p>
            <a:pPr indent="0" marL="0">
              <a:buNone/>
            </a:pPr>
            <a:r>
              <a:rPr lang="en-US" sz="3000" b="1" dirty="0">
                <a:solidFill>
                  <a:srgbClr val="1F5C3A"/>
                </a:solidFill>
                <a:latin typeface="Century Schoolbook" pitchFamily="34" charset="0"/>
                <a:ea typeface="Century Schoolbook" pitchFamily="34" charset="-122"/>
                <a:cs typeface="Century Schoolbook" pitchFamily="34" charset="-120"/>
              </a:rPr>
              <a:t>100.00%</a:t>
            </a:r>
            <a:endParaRPr lang="en-US" sz="3000" dirty="0"/>
          </a:p>
        </p:txBody>
      </p:sp>
      <p:sp>
        <p:nvSpPr>
          <p:cNvPr id="7" name="Text 4"/>
          <p:cNvSpPr/>
          <p:nvPr/>
        </p:nvSpPr>
        <p:spPr>
          <a:xfrm>
            <a:off x="8641080" y="2295144"/>
            <a:ext cx="2743200" cy="237744"/>
          </a:xfrm>
          <a:prstGeom prst="rect">
            <a:avLst/>
          </a:prstGeom>
          <a:noFill/>
          <a:ln/>
        </p:spPr>
        <p:txBody>
          <a:bodyPr wrap="square" lIns="0" tIns="0" rIns="0" bIns="0" rtlCol="0" anchor="ctr"/>
          <a:lstStyle/>
          <a:p>
            <a:pPr indent="0" marL="0">
              <a:buNone/>
            </a:pPr>
            <a:r>
              <a:rPr lang="en-US" sz="950" spc="200" kern="0" dirty="0">
                <a:solidFill>
                  <a:srgbClr val="211C12"/>
                </a:solidFill>
                <a:latin typeface="Courier New" pitchFamily="34" charset="0"/>
                <a:ea typeface="Courier New" pitchFamily="34" charset="-122"/>
                <a:cs typeface="Courier New" pitchFamily="34" charset="-120"/>
              </a:rPr>
              <a:t>EXTRACTION FIDELITY</a:t>
            </a:r>
            <a:endParaRPr lang="en-US" sz="950" dirty="0"/>
          </a:p>
        </p:txBody>
      </p:sp>
      <p:sp>
        <p:nvSpPr>
          <p:cNvPr id="8" name="Text 5"/>
          <p:cNvSpPr/>
          <p:nvPr/>
        </p:nvSpPr>
        <p:spPr>
          <a:xfrm>
            <a:off x="8641080" y="2551176"/>
            <a:ext cx="2743200" cy="502920"/>
          </a:xfrm>
          <a:prstGeom prst="rect">
            <a:avLst/>
          </a:prstGeom>
          <a:noFill/>
          <a:ln/>
        </p:spPr>
        <p:txBody>
          <a:bodyPr wrap="square" lIns="0" tIns="0" rIns="0" bIns="0" rtlCol="0" anchor="ctr"/>
          <a:lstStyle/>
          <a:p>
            <a:pPr indent="0" marL="0">
              <a:buNone/>
            </a:pPr>
            <a:r>
              <a:rPr lang="en-US" sz="1050" dirty="0">
                <a:solidFill>
                  <a:srgbClr val="6F6757"/>
                </a:solidFill>
                <a:latin typeface="Calibri" pitchFamily="34" charset="0"/>
                <a:ea typeface="Calibri" pitchFamily="34" charset="-122"/>
                <a:cs typeface="Calibri" pitchFamily="34" charset="-120"/>
              </a:rPr>
              <a:t>21,990 of 21,990 real HM Land Registry transactions reproduced, record by record.</a:t>
            </a:r>
            <a:endParaRPr lang="en-US" sz="1050" dirty="0"/>
          </a:p>
        </p:txBody>
      </p:sp>
      <p:sp>
        <p:nvSpPr>
          <p:cNvPr id="9" name="Text 6"/>
          <p:cNvSpPr/>
          <p:nvPr/>
        </p:nvSpPr>
        <p:spPr>
          <a:xfrm>
            <a:off x="8641080" y="3200400"/>
            <a:ext cx="2743200" cy="566928"/>
          </a:xfrm>
          <a:prstGeom prst="rect">
            <a:avLst/>
          </a:prstGeom>
          <a:noFill/>
          <a:ln/>
        </p:spPr>
        <p:txBody>
          <a:bodyPr wrap="square" lIns="0" tIns="0" rIns="0" bIns="0" rtlCol="0" anchor="ctr"/>
          <a:lstStyle/>
          <a:p>
            <a:pPr indent="0" marL="0">
              <a:buNone/>
            </a:pPr>
            <a:r>
              <a:rPr lang="en-US" sz="3000" b="1" dirty="0">
                <a:solidFill>
                  <a:srgbClr val="9C2F1F"/>
                </a:solidFill>
                <a:latin typeface="Century Schoolbook" pitchFamily="34" charset="0"/>
                <a:ea typeface="Century Schoolbook" pitchFamily="34" charset="-122"/>
                <a:cs typeface="Century Schoolbook" pitchFamily="34" charset="-120"/>
              </a:rPr>
              <a:t>£35,186,823</a:t>
            </a:r>
            <a:endParaRPr lang="en-US" sz="3000" dirty="0"/>
          </a:p>
        </p:txBody>
      </p:sp>
      <p:sp>
        <p:nvSpPr>
          <p:cNvPr id="10" name="Text 7"/>
          <p:cNvSpPr/>
          <p:nvPr/>
        </p:nvSpPr>
        <p:spPr>
          <a:xfrm>
            <a:off x="8641080" y="3803904"/>
            <a:ext cx="2743200" cy="237744"/>
          </a:xfrm>
          <a:prstGeom prst="rect">
            <a:avLst/>
          </a:prstGeom>
          <a:noFill/>
          <a:ln/>
        </p:spPr>
        <p:txBody>
          <a:bodyPr wrap="square" lIns="0" tIns="0" rIns="0" bIns="0" rtlCol="0" anchor="ctr"/>
          <a:lstStyle/>
          <a:p>
            <a:pPr indent="0" marL="0">
              <a:buNone/>
            </a:pPr>
            <a:r>
              <a:rPr lang="en-US" sz="950" spc="200" kern="0" dirty="0">
                <a:solidFill>
                  <a:srgbClr val="211C12"/>
                </a:solidFill>
                <a:latin typeface="Courier New" pitchFamily="34" charset="0"/>
                <a:ea typeface="Courier New" pitchFamily="34" charset="-122"/>
                <a:cs typeface="Courier New" pitchFamily="34" charset="-120"/>
              </a:rPr>
              <a:t>LEGACY DRIFT CAUGHT</a:t>
            </a:r>
            <a:endParaRPr lang="en-US" sz="950" dirty="0"/>
          </a:p>
        </p:txBody>
      </p:sp>
      <p:sp>
        <p:nvSpPr>
          <p:cNvPr id="11" name="Text 8"/>
          <p:cNvSpPr/>
          <p:nvPr/>
        </p:nvSpPr>
        <p:spPr>
          <a:xfrm>
            <a:off x="8641080" y="4059936"/>
            <a:ext cx="2743200" cy="502920"/>
          </a:xfrm>
          <a:prstGeom prst="rect">
            <a:avLst/>
          </a:prstGeom>
          <a:noFill/>
          <a:ln/>
        </p:spPr>
        <p:txBody>
          <a:bodyPr wrap="square" lIns="0" tIns="0" rIns="0" bIns="0" rtlCol="0" anchor="ctr"/>
          <a:lstStyle/>
          <a:p>
            <a:pPr indent="0" marL="0">
              <a:buNone/>
            </a:pPr>
            <a:r>
              <a:rPr lang="en-US" sz="1050" dirty="0">
                <a:solidFill>
                  <a:srgbClr val="6F6757"/>
                </a:solidFill>
                <a:latin typeface="Calibri" pitchFamily="34" charset="0"/>
                <a:ea typeface="Calibri" pitchFamily="34" charset="-122"/>
                <a:cs typeface="Calibri" pitchFamily="34" charset="-120"/>
              </a:rPr>
              <a:t>17,659 records mischarged vs the statute book. Nobody told the app where the bug was — replay found it.</a:t>
            </a:r>
            <a:endParaRPr lang="en-US" sz="1050" dirty="0"/>
          </a:p>
        </p:txBody>
      </p:sp>
      <p:sp>
        <p:nvSpPr>
          <p:cNvPr id="12" name="Shape 9"/>
          <p:cNvSpPr/>
          <p:nvPr/>
        </p:nvSpPr>
        <p:spPr>
          <a:xfrm>
            <a:off x="8641080" y="5029200"/>
            <a:ext cx="2743200" cy="0"/>
          </a:xfrm>
          <a:prstGeom prst="line">
            <a:avLst/>
          </a:prstGeom>
          <a:noFill/>
          <a:ln w="12700">
            <a:solidFill>
              <a:srgbClr val="DCD4C0"/>
            </a:solidFill>
            <a:prstDash val="solid"/>
          </a:ln>
        </p:spPr>
      </p:sp>
      <p:sp>
        <p:nvSpPr>
          <p:cNvPr id="13" name="Text 10"/>
          <p:cNvSpPr/>
          <p:nvPr/>
        </p:nvSpPr>
        <p:spPr>
          <a:xfrm>
            <a:off x="8641080" y="5166360"/>
            <a:ext cx="2743200" cy="731520"/>
          </a:xfrm>
          <a:prstGeom prst="rect">
            <a:avLst/>
          </a:prstGeom>
          <a:noFill/>
          <a:ln/>
        </p:spPr>
        <p:txBody>
          <a:bodyPr wrap="square" lIns="0" tIns="0" rIns="0" bIns="0" rtlCol="0" anchor="ctr"/>
          <a:lstStyle/>
          <a:p>
            <a:pPr indent="0" marL="0">
              <a:buNone/>
            </a:pPr>
            <a:r>
              <a:rPr lang="en-US" sz="1100" i="1" dirty="0">
                <a:solidFill>
                  <a:srgbClr val="6F6757"/>
                </a:solidFill>
                <a:latin typeface="Calibri" pitchFamily="34" charset="0"/>
                <a:ea typeface="Calibri" pitchFamily="34" charset="-122"/>
                <a:cs typeface="Calibri" pitchFamily="34" charset="-120"/>
              </a:rPr>
              <a:t>Every figure on this screen is recomputed live at demo time. Nothing is asserted.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7"/>
        </a:solidFill>
      </p:bgPr>
    </p:bg>
    <p:spTree>
      <p:nvGrpSpPr>
        <p:cNvPr id="1" name=""/>
        <p:cNvGrpSpPr/>
        <p:nvPr/>
      </p:nvGrpSpPr>
      <p:grpSpPr>
        <a:xfrm>
          <a:off x="0" y="0"/>
          <a:ext cx="0" cy="0"/>
          <a:chOff x="0" y="0"/>
          <a:chExt cx="0" cy="0"/>
        </a:xfrm>
      </p:grpSpPr>
      <p:sp>
        <p:nvSpPr>
          <p:cNvPr id="2" name="Text 0"/>
          <p:cNvSpPr/>
          <p:nvPr/>
        </p:nvSpPr>
        <p:spPr>
          <a:xfrm>
            <a:off x="822960" y="457200"/>
            <a:ext cx="7315200" cy="274320"/>
          </a:xfrm>
          <a:prstGeom prst="rect">
            <a:avLst/>
          </a:prstGeom>
          <a:noFill/>
          <a:ln/>
        </p:spPr>
        <p:txBody>
          <a:bodyPr wrap="square" lIns="0" tIns="0" rIns="0" bIns="0" rtlCol="0" anchor="ctr"/>
          <a:lstStyle/>
          <a:p>
            <a:pPr indent="0" marL="0">
              <a:buNone/>
            </a:pPr>
            <a:r>
              <a:rPr lang="en-US" sz="1100" spc="300" kern="0" dirty="0">
                <a:solidFill>
                  <a:srgbClr val="211C12"/>
                </a:solidFill>
                <a:latin typeface="Courier New" pitchFamily="34" charset="0"/>
                <a:ea typeface="Courier New" pitchFamily="34" charset="-122"/>
                <a:cs typeface="Courier New" pitchFamily="34" charset="-120"/>
              </a:rPr>
              <a:t>UNDER THE HOOD — TECHNICAL EXECUTION</a:t>
            </a:r>
            <a:endParaRPr lang="en-US" sz="1100" dirty="0"/>
          </a:p>
        </p:txBody>
      </p:sp>
      <p:sp>
        <p:nvSpPr>
          <p:cNvPr id="3" name="Text 1"/>
          <p:cNvSpPr/>
          <p:nvPr/>
        </p:nvSpPr>
        <p:spPr>
          <a:xfrm>
            <a:off x="822960" y="749808"/>
            <a:ext cx="10607040" cy="640080"/>
          </a:xfrm>
          <a:prstGeom prst="rect">
            <a:avLst/>
          </a:prstGeom>
          <a:noFill/>
          <a:ln/>
        </p:spPr>
        <p:txBody>
          <a:bodyPr wrap="square" lIns="0" tIns="0" rIns="0" bIns="0" rtlCol="0" anchor="ctr"/>
          <a:lstStyle/>
          <a:p>
            <a:pPr indent="0" marL="0">
              <a:buNone/>
            </a:pPr>
            <a:r>
              <a:rPr lang="en-US" sz="3000" b="1" dirty="0">
                <a:solidFill>
                  <a:srgbClr val="211C12"/>
                </a:solidFill>
                <a:latin typeface="Century Schoolbook" pitchFamily="34" charset="0"/>
                <a:ea typeface="Century Schoolbook" pitchFamily="34" charset="-122"/>
                <a:cs typeface="Century Schoolbook" pitchFamily="34" charset="-120"/>
              </a:rPr>
              <a:t>Real engineering, not a prompt wrapper.</a:t>
            </a:r>
            <a:endParaRPr lang="en-US" sz="3000" dirty="0"/>
          </a:p>
        </p:txBody>
      </p:sp>
      <p:sp>
        <p:nvSpPr>
          <p:cNvPr id="4" name="Shape 2"/>
          <p:cNvSpPr/>
          <p:nvPr/>
        </p:nvSpPr>
        <p:spPr>
          <a:xfrm>
            <a:off x="822960" y="1691640"/>
            <a:ext cx="3502152" cy="1938528"/>
          </a:xfrm>
          <a:prstGeom prst="rect">
            <a:avLst/>
          </a:prstGeom>
          <a:solidFill>
            <a:srgbClr val="FDFBF4"/>
          </a:solidFill>
          <a:ln w="12700">
            <a:solidFill>
              <a:srgbClr val="DCD4C0"/>
            </a:solidFill>
            <a:prstDash val="solid"/>
          </a:ln>
        </p:spPr>
      </p:sp>
      <p:sp>
        <p:nvSpPr>
          <p:cNvPr id="5" name="Shape 3"/>
          <p:cNvSpPr/>
          <p:nvPr/>
        </p:nvSpPr>
        <p:spPr>
          <a:xfrm>
            <a:off x="1024128" y="1874520"/>
            <a:ext cx="420624" cy="420624"/>
          </a:xfrm>
          <a:prstGeom prst="ellipse">
            <a:avLst/>
          </a:prstGeom>
          <a:solidFill>
            <a:srgbClr val="EDE8D9"/>
          </a:solidFill>
          <a:ln/>
        </p:spPr>
      </p:sp>
      <p:pic>
        <p:nvPicPr>
          <p:cNvPr id="6" name="Image 0" descr="preencoded.png">    </p:cNvPr>
          <p:cNvPicPr>
            <a:picLocks noChangeAspect="1"/>
          </p:cNvPicPr>
          <p:nvPr/>
        </p:nvPicPr>
        <p:blipFill>
          <a:blip r:embed="rId1"/>
          <a:stretch>
            <a:fillRect/>
          </a:stretch>
        </p:blipFill>
        <p:spPr>
          <a:xfrm>
            <a:off x="1129284" y="1979676"/>
            <a:ext cx="210312" cy="210312"/>
          </a:xfrm>
          <a:prstGeom prst="rect">
            <a:avLst/>
          </a:prstGeom>
        </p:spPr>
      </p:pic>
      <p:sp>
        <p:nvSpPr>
          <p:cNvPr id="7" name="Text 4"/>
          <p:cNvSpPr/>
          <p:nvPr/>
        </p:nvSpPr>
        <p:spPr>
          <a:xfrm>
            <a:off x="1572768" y="1911096"/>
            <a:ext cx="2587752" cy="320040"/>
          </a:xfrm>
          <a:prstGeom prst="rect">
            <a:avLst/>
          </a:prstGeom>
          <a:noFill/>
          <a:ln/>
        </p:spPr>
        <p:txBody>
          <a:bodyPr wrap="square" lIns="0" tIns="0" rIns="0" bIns="0" rtlCol="0" anchor="ctr"/>
          <a:lstStyle/>
          <a:p>
            <a:pPr indent="0" marL="0">
              <a:buNone/>
            </a:pPr>
            <a:r>
              <a:rPr lang="en-US" sz="1350" b="1" dirty="0">
                <a:solidFill>
                  <a:srgbClr val="211C12"/>
                </a:solidFill>
                <a:latin typeface="Calibri" pitchFamily="34" charset="0"/>
                <a:ea typeface="Calibri" pitchFamily="34" charset="-122"/>
                <a:cs typeface="Calibri" pitchFamily="34" charset="-120"/>
              </a:rPr>
              <a:t>Messy data, triaged</a:t>
            </a:r>
            <a:endParaRPr lang="en-US" sz="1350" dirty="0"/>
          </a:p>
        </p:txBody>
      </p:sp>
      <p:sp>
        <p:nvSpPr>
          <p:cNvPr id="8" name="Text 5"/>
          <p:cNvSpPr/>
          <p:nvPr/>
        </p:nvSpPr>
        <p:spPr>
          <a:xfrm>
            <a:off x="1024128" y="2404872"/>
            <a:ext cx="3099816" cy="1115568"/>
          </a:xfrm>
          <a:prstGeom prst="rect">
            <a:avLst/>
          </a:prstGeom>
          <a:noFill/>
          <a:ln/>
        </p:spPr>
        <p:txBody>
          <a:bodyPr wrap="square" lIns="0" tIns="0" rIns="0" bIns="0" rtlCol="0" anchor="ctr"/>
          <a:lstStyle/>
          <a:p>
            <a:pPr indent="0" marL="0">
              <a:lnSpc>
                <a:spcPct val="108000"/>
              </a:lnSpc>
              <a:buNone/>
            </a:pPr>
            <a:r>
              <a:rPr lang="en-US" sz="1050" dirty="0">
                <a:solidFill>
                  <a:srgbClr val="6F6757"/>
                </a:solidFill>
                <a:latin typeface="Calibri" pitchFamily="34" charset="0"/>
                <a:ea typeface="Calibri" pitchFamily="34" charset="-122"/>
                <a:cs typeface="Calibri" pitchFamily="34" charset="-120"/>
              </a:rPr>
              <a:t>Blanks, junk text, negatives, absurd outliers: classified with a reason, counted, excluded from the math. Dirty rows never crash the pipeline.</a:t>
            </a:r>
            <a:endParaRPr lang="en-US" sz="1050" dirty="0"/>
          </a:p>
        </p:txBody>
      </p:sp>
      <p:sp>
        <p:nvSpPr>
          <p:cNvPr id="9" name="Shape 6"/>
          <p:cNvSpPr/>
          <p:nvPr/>
        </p:nvSpPr>
        <p:spPr>
          <a:xfrm>
            <a:off x="4416552" y="1691640"/>
            <a:ext cx="3502152" cy="1938528"/>
          </a:xfrm>
          <a:prstGeom prst="rect">
            <a:avLst/>
          </a:prstGeom>
          <a:solidFill>
            <a:srgbClr val="FDFBF4"/>
          </a:solidFill>
          <a:ln w="12700">
            <a:solidFill>
              <a:srgbClr val="DCD4C0"/>
            </a:solidFill>
            <a:prstDash val="solid"/>
          </a:ln>
        </p:spPr>
      </p:sp>
      <p:sp>
        <p:nvSpPr>
          <p:cNvPr id="10" name="Shape 7"/>
          <p:cNvSpPr/>
          <p:nvPr/>
        </p:nvSpPr>
        <p:spPr>
          <a:xfrm>
            <a:off x="4617720" y="1874520"/>
            <a:ext cx="420624" cy="420624"/>
          </a:xfrm>
          <a:prstGeom prst="ellipse">
            <a:avLst/>
          </a:prstGeom>
          <a:solidFill>
            <a:srgbClr val="EDE8D9"/>
          </a:solidFill>
          <a:ln/>
        </p:spPr>
      </p:sp>
      <p:pic>
        <p:nvPicPr>
          <p:cNvPr id="11" name="Image 1" descr="preencoded.png">    </p:cNvPr>
          <p:cNvPicPr>
            <a:picLocks noChangeAspect="1"/>
          </p:cNvPicPr>
          <p:nvPr/>
        </p:nvPicPr>
        <p:blipFill>
          <a:blip r:embed="rId2"/>
          <a:stretch>
            <a:fillRect/>
          </a:stretch>
        </p:blipFill>
        <p:spPr>
          <a:xfrm>
            <a:off x="4722876" y="1979676"/>
            <a:ext cx="210312" cy="210312"/>
          </a:xfrm>
          <a:prstGeom prst="rect">
            <a:avLst/>
          </a:prstGeom>
        </p:spPr>
      </p:pic>
      <p:sp>
        <p:nvSpPr>
          <p:cNvPr id="12" name="Text 8"/>
          <p:cNvSpPr/>
          <p:nvPr/>
        </p:nvSpPr>
        <p:spPr>
          <a:xfrm>
            <a:off x="5166360" y="1911096"/>
            <a:ext cx="2587752" cy="320040"/>
          </a:xfrm>
          <a:prstGeom prst="rect">
            <a:avLst/>
          </a:prstGeom>
          <a:noFill/>
          <a:ln/>
        </p:spPr>
        <p:txBody>
          <a:bodyPr wrap="square" lIns="0" tIns="0" rIns="0" bIns="0" rtlCol="0" anchor="ctr"/>
          <a:lstStyle/>
          <a:p>
            <a:pPr indent="0" marL="0">
              <a:buNone/>
            </a:pPr>
            <a:r>
              <a:rPr lang="en-US" sz="1350" b="1" dirty="0">
                <a:solidFill>
                  <a:srgbClr val="211C12"/>
                </a:solidFill>
                <a:latin typeface="Calibri" pitchFamily="34" charset="0"/>
                <a:ea typeface="Calibri" pitchFamily="34" charset="-122"/>
                <a:cs typeface="Calibri" pitchFamily="34" charset="-120"/>
              </a:rPr>
              <a:t>Schema-gated LLM</a:t>
            </a:r>
            <a:endParaRPr lang="en-US" sz="1350" dirty="0"/>
          </a:p>
        </p:txBody>
      </p:sp>
      <p:sp>
        <p:nvSpPr>
          <p:cNvPr id="13" name="Text 9"/>
          <p:cNvSpPr/>
          <p:nvPr/>
        </p:nvSpPr>
        <p:spPr>
          <a:xfrm>
            <a:off x="4617720" y="2404872"/>
            <a:ext cx="3099816" cy="1115568"/>
          </a:xfrm>
          <a:prstGeom prst="rect">
            <a:avLst/>
          </a:prstGeom>
          <a:noFill/>
          <a:ln/>
        </p:spPr>
        <p:txBody>
          <a:bodyPr wrap="square" lIns="0" tIns="0" rIns="0" bIns="0" rtlCol="0" anchor="ctr"/>
          <a:lstStyle/>
          <a:p>
            <a:pPr indent="0" marL="0">
              <a:lnSpc>
                <a:spcPct val="108000"/>
              </a:lnSpc>
              <a:buNone/>
            </a:pPr>
            <a:r>
              <a:rPr lang="en-US" sz="1050" dirty="0">
                <a:solidFill>
                  <a:srgbClr val="6F6757"/>
                </a:solidFill>
                <a:latin typeface="Calibri" pitchFamily="34" charset="0"/>
                <a:ea typeface="Calibri" pitchFamily="34" charset="-122"/>
                <a:cs typeface="Calibri" pitchFamily="34" charset="-120"/>
              </a:rPr>
              <a:t>Strict-JSON output, hand-rolled validation; exact errors fed back, max 3 attempts; cached-spec fallback when the API is down.</a:t>
            </a:r>
            <a:endParaRPr lang="en-US" sz="1050" dirty="0"/>
          </a:p>
        </p:txBody>
      </p:sp>
      <p:sp>
        <p:nvSpPr>
          <p:cNvPr id="14" name="Shape 10"/>
          <p:cNvSpPr/>
          <p:nvPr/>
        </p:nvSpPr>
        <p:spPr>
          <a:xfrm>
            <a:off x="8010144" y="1691640"/>
            <a:ext cx="3502152" cy="1938528"/>
          </a:xfrm>
          <a:prstGeom prst="rect">
            <a:avLst/>
          </a:prstGeom>
          <a:solidFill>
            <a:srgbClr val="FDFBF4"/>
          </a:solidFill>
          <a:ln w="12700">
            <a:solidFill>
              <a:srgbClr val="DCD4C0"/>
            </a:solidFill>
            <a:prstDash val="solid"/>
          </a:ln>
        </p:spPr>
      </p:sp>
      <p:sp>
        <p:nvSpPr>
          <p:cNvPr id="15" name="Shape 11"/>
          <p:cNvSpPr/>
          <p:nvPr/>
        </p:nvSpPr>
        <p:spPr>
          <a:xfrm>
            <a:off x="8211312" y="1874520"/>
            <a:ext cx="420624" cy="420624"/>
          </a:xfrm>
          <a:prstGeom prst="ellipse">
            <a:avLst/>
          </a:prstGeom>
          <a:solidFill>
            <a:srgbClr val="EDE8D9"/>
          </a:solidFill>
          <a:ln/>
        </p:spPr>
      </p:sp>
      <p:pic>
        <p:nvPicPr>
          <p:cNvPr id="16" name="Image 2" descr="preencoded.png">    </p:cNvPr>
          <p:cNvPicPr>
            <a:picLocks noChangeAspect="1"/>
          </p:cNvPicPr>
          <p:nvPr/>
        </p:nvPicPr>
        <p:blipFill>
          <a:blip r:embed="rId3"/>
          <a:stretch>
            <a:fillRect/>
          </a:stretch>
        </p:blipFill>
        <p:spPr>
          <a:xfrm>
            <a:off x="8316468" y="1979676"/>
            <a:ext cx="210312" cy="210312"/>
          </a:xfrm>
          <a:prstGeom prst="rect">
            <a:avLst/>
          </a:prstGeom>
        </p:spPr>
      </p:pic>
      <p:sp>
        <p:nvSpPr>
          <p:cNvPr id="17" name="Text 12"/>
          <p:cNvSpPr/>
          <p:nvPr/>
        </p:nvSpPr>
        <p:spPr>
          <a:xfrm>
            <a:off x="8759952" y="1911096"/>
            <a:ext cx="2587752" cy="320040"/>
          </a:xfrm>
          <a:prstGeom prst="rect">
            <a:avLst/>
          </a:prstGeom>
          <a:noFill/>
          <a:ln/>
        </p:spPr>
        <p:txBody>
          <a:bodyPr wrap="square" lIns="0" tIns="0" rIns="0" bIns="0" rtlCol="0" anchor="ctr"/>
          <a:lstStyle/>
          <a:p>
            <a:pPr indent="0" marL="0">
              <a:buNone/>
            </a:pPr>
            <a:r>
              <a:rPr lang="en-US" sz="1350" b="1" dirty="0">
                <a:solidFill>
                  <a:srgbClr val="211C12"/>
                </a:solidFill>
                <a:latin typeface="Calibri" pitchFamily="34" charset="0"/>
                <a:ea typeface="Calibri" pitchFamily="34" charset="-122"/>
                <a:cs typeface="Calibri" pitchFamily="34" charset="-120"/>
              </a:rPr>
              <a:t>Write-guard in code</a:t>
            </a:r>
            <a:endParaRPr lang="en-US" sz="1350" dirty="0"/>
          </a:p>
        </p:txBody>
      </p:sp>
      <p:sp>
        <p:nvSpPr>
          <p:cNvPr id="18" name="Text 13"/>
          <p:cNvSpPr/>
          <p:nvPr/>
        </p:nvSpPr>
        <p:spPr>
          <a:xfrm>
            <a:off x="8211312" y="2404872"/>
            <a:ext cx="3099816" cy="1115568"/>
          </a:xfrm>
          <a:prstGeom prst="rect">
            <a:avLst/>
          </a:prstGeom>
          <a:noFill/>
          <a:ln/>
        </p:spPr>
        <p:txBody>
          <a:bodyPr wrap="square" lIns="0" tIns="0" rIns="0" bIns="0" rtlCol="0" anchor="ctr"/>
          <a:lstStyle/>
          <a:p>
            <a:pPr indent="0" marL="0">
              <a:lnSpc>
                <a:spcPct val="108000"/>
              </a:lnSpc>
              <a:buNone/>
            </a:pPr>
            <a:r>
              <a:rPr lang="en-US" sz="1050" dirty="0">
                <a:solidFill>
                  <a:srgbClr val="6F6757"/>
                </a:solidFill>
                <a:latin typeface="Calibri" pitchFamily="34" charset="0"/>
                <a:ea typeface="Calibri" pitchFamily="34" charset="-122"/>
                <a:cs typeface="Calibri" pitchFamily="34" charset="-120"/>
              </a:rPr>
              <a:t>Every write resolves against an allowlist — anything outside workdir/ raises. Original file SHA-256, verified live on screen.</a:t>
            </a:r>
            <a:endParaRPr lang="en-US" sz="1050" dirty="0"/>
          </a:p>
        </p:txBody>
      </p:sp>
      <p:sp>
        <p:nvSpPr>
          <p:cNvPr id="19" name="Shape 14"/>
          <p:cNvSpPr/>
          <p:nvPr/>
        </p:nvSpPr>
        <p:spPr>
          <a:xfrm>
            <a:off x="822960" y="3794760"/>
            <a:ext cx="3502152" cy="1938528"/>
          </a:xfrm>
          <a:prstGeom prst="rect">
            <a:avLst/>
          </a:prstGeom>
          <a:solidFill>
            <a:srgbClr val="FDFBF4"/>
          </a:solidFill>
          <a:ln w="12700">
            <a:solidFill>
              <a:srgbClr val="DCD4C0"/>
            </a:solidFill>
            <a:prstDash val="solid"/>
          </a:ln>
        </p:spPr>
      </p:sp>
      <p:sp>
        <p:nvSpPr>
          <p:cNvPr id="20" name="Shape 15"/>
          <p:cNvSpPr/>
          <p:nvPr/>
        </p:nvSpPr>
        <p:spPr>
          <a:xfrm>
            <a:off x="1024128" y="3977640"/>
            <a:ext cx="420624" cy="420624"/>
          </a:xfrm>
          <a:prstGeom prst="ellipse">
            <a:avLst/>
          </a:prstGeom>
          <a:solidFill>
            <a:srgbClr val="EDE8D9"/>
          </a:solidFill>
          <a:ln/>
        </p:spPr>
      </p:sp>
      <p:pic>
        <p:nvPicPr>
          <p:cNvPr id="21" name="Image 3" descr="preencoded.png">    </p:cNvPr>
          <p:cNvPicPr>
            <a:picLocks noChangeAspect="1"/>
          </p:cNvPicPr>
          <p:nvPr/>
        </p:nvPicPr>
        <p:blipFill>
          <a:blip r:embed="rId4"/>
          <a:stretch>
            <a:fillRect/>
          </a:stretch>
        </p:blipFill>
        <p:spPr>
          <a:xfrm>
            <a:off x="1129284" y="4082796"/>
            <a:ext cx="210312" cy="210312"/>
          </a:xfrm>
          <a:prstGeom prst="rect">
            <a:avLst/>
          </a:prstGeom>
        </p:spPr>
      </p:pic>
      <p:sp>
        <p:nvSpPr>
          <p:cNvPr id="22" name="Text 16"/>
          <p:cNvSpPr/>
          <p:nvPr/>
        </p:nvSpPr>
        <p:spPr>
          <a:xfrm>
            <a:off x="1572768" y="4014216"/>
            <a:ext cx="2587752" cy="320040"/>
          </a:xfrm>
          <a:prstGeom prst="rect">
            <a:avLst/>
          </a:prstGeom>
          <a:noFill/>
          <a:ln/>
        </p:spPr>
        <p:txBody>
          <a:bodyPr wrap="square" lIns="0" tIns="0" rIns="0" bIns="0" rtlCol="0" anchor="ctr"/>
          <a:lstStyle/>
          <a:p>
            <a:pPr indent="0" marL="0">
              <a:buNone/>
            </a:pPr>
            <a:r>
              <a:rPr lang="en-US" sz="1350" b="1" dirty="0">
                <a:solidFill>
                  <a:srgbClr val="211C12"/>
                </a:solidFill>
                <a:latin typeface="Calibri" pitchFamily="34" charset="0"/>
                <a:ea typeface="Calibri" pitchFamily="34" charset="-122"/>
                <a:cs typeface="Calibri" pitchFamily="34" charset="-120"/>
              </a:rPr>
              <a:t>Tests all the way down</a:t>
            </a:r>
            <a:endParaRPr lang="en-US" sz="1350" dirty="0"/>
          </a:p>
        </p:txBody>
      </p:sp>
      <p:sp>
        <p:nvSpPr>
          <p:cNvPr id="23" name="Text 17"/>
          <p:cNvSpPr/>
          <p:nvPr/>
        </p:nvSpPr>
        <p:spPr>
          <a:xfrm>
            <a:off x="1024128" y="4507992"/>
            <a:ext cx="3099816" cy="1115568"/>
          </a:xfrm>
          <a:prstGeom prst="rect">
            <a:avLst/>
          </a:prstGeom>
          <a:noFill/>
          <a:ln/>
        </p:spPr>
        <p:txBody>
          <a:bodyPr wrap="square" lIns="0" tIns="0" rIns="0" bIns="0" rtlCol="0" anchor="ctr"/>
          <a:lstStyle/>
          <a:p>
            <a:pPr indent="0" marL="0">
              <a:lnSpc>
                <a:spcPct val="108000"/>
              </a:lnSpc>
              <a:buNone/>
            </a:pPr>
            <a:r>
              <a:rPr lang="en-US" sz="1050" dirty="0">
                <a:solidFill>
                  <a:srgbClr val="6F6757"/>
                </a:solidFill>
                <a:latin typeface="Calibri" pitchFamily="34" charset="0"/>
                <a:ea typeface="Calibri" pitchFamily="34" charset="-122"/>
                <a:cs typeface="Calibri" pitchFamily="34" charset="-120"/>
              </a:rPr>
              <a:t>38 unit tests on the deterministic core, plus 71 golden tests generated from historical data. The pytest exit code is the only judge.</a:t>
            </a:r>
            <a:endParaRPr lang="en-US" sz="1050" dirty="0"/>
          </a:p>
        </p:txBody>
      </p:sp>
      <p:sp>
        <p:nvSpPr>
          <p:cNvPr id="24" name="Shape 18"/>
          <p:cNvSpPr/>
          <p:nvPr/>
        </p:nvSpPr>
        <p:spPr>
          <a:xfrm>
            <a:off x="4416552" y="3794760"/>
            <a:ext cx="3502152" cy="1938528"/>
          </a:xfrm>
          <a:prstGeom prst="rect">
            <a:avLst/>
          </a:prstGeom>
          <a:solidFill>
            <a:srgbClr val="FDFBF4"/>
          </a:solidFill>
          <a:ln w="12700">
            <a:solidFill>
              <a:srgbClr val="DCD4C0"/>
            </a:solidFill>
            <a:prstDash val="solid"/>
          </a:ln>
        </p:spPr>
      </p:sp>
      <p:sp>
        <p:nvSpPr>
          <p:cNvPr id="25" name="Shape 19"/>
          <p:cNvSpPr/>
          <p:nvPr/>
        </p:nvSpPr>
        <p:spPr>
          <a:xfrm>
            <a:off x="4617720" y="3977640"/>
            <a:ext cx="420624" cy="420624"/>
          </a:xfrm>
          <a:prstGeom prst="ellipse">
            <a:avLst/>
          </a:prstGeom>
          <a:solidFill>
            <a:srgbClr val="EDE8D9"/>
          </a:solidFill>
          <a:ln/>
        </p:spPr>
      </p:sp>
      <p:pic>
        <p:nvPicPr>
          <p:cNvPr id="26" name="Image 4" descr="preencoded.png">    </p:cNvPr>
          <p:cNvPicPr>
            <a:picLocks noChangeAspect="1"/>
          </p:cNvPicPr>
          <p:nvPr/>
        </p:nvPicPr>
        <p:blipFill>
          <a:blip r:embed="rId5"/>
          <a:stretch>
            <a:fillRect/>
          </a:stretch>
        </p:blipFill>
        <p:spPr>
          <a:xfrm>
            <a:off x="4722876" y="4082796"/>
            <a:ext cx="210312" cy="210312"/>
          </a:xfrm>
          <a:prstGeom prst="rect">
            <a:avLst/>
          </a:prstGeom>
        </p:spPr>
      </p:pic>
      <p:sp>
        <p:nvSpPr>
          <p:cNvPr id="27" name="Text 20"/>
          <p:cNvSpPr/>
          <p:nvPr/>
        </p:nvSpPr>
        <p:spPr>
          <a:xfrm>
            <a:off x="5166360" y="4014216"/>
            <a:ext cx="2587752" cy="320040"/>
          </a:xfrm>
          <a:prstGeom prst="rect">
            <a:avLst/>
          </a:prstGeom>
          <a:noFill/>
          <a:ln/>
        </p:spPr>
        <p:txBody>
          <a:bodyPr wrap="square" lIns="0" tIns="0" rIns="0" bIns="0" rtlCol="0" anchor="ctr"/>
          <a:lstStyle/>
          <a:p>
            <a:pPr indent="0" marL="0">
              <a:buNone/>
            </a:pPr>
            <a:r>
              <a:rPr lang="en-US" sz="1350" b="1" dirty="0">
                <a:solidFill>
                  <a:srgbClr val="211C12"/>
                </a:solidFill>
                <a:latin typeface="Calibri" pitchFamily="34" charset="0"/>
                <a:ea typeface="Calibri" pitchFamily="34" charset="-122"/>
                <a:cs typeface="Calibri" pitchFamily="34" charset="-120"/>
              </a:rPr>
              <a:t>Gated state machine</a:t>
            </a:r>
            <a:endParaRPr lang="en-US" sz="1350" dirty="0"/>
          </a:p>
        </p:txBody>
      </p:sp>
      <p:sp>
        <p:nvSpPr>
          <p:cNvPr id="28" name="Text 21"/>
          <p:cNvSpPr/>
          <p:nvPr/>
        </p:nvSpPr>
        <p:spPr>
          <a:xfrm>
            <a:off x="4617720" y="4507992"/>
            <a:ext cx="3099816" cy="1115568"/>
          </a:xfrm>
          <a:prstGeom prst="rect">
            <a:avLst/>
          </a:prstGeom>
          <a:noFill/>
          <a:ln/>
        </p:spPr>
        <p:txBody>
          <a:bodyPr wrap="square" lIns="0" tIns="0" rIns="0" bIns="0" rtlCol="0" anchor="ctr"/>
          <a:lstStyle/>
          <a:p>
            <a:pPr indent="0" marL="0">
              <a:lnSpc>
                <a:spcPct val="108000"/>
              </a:lnSpc>
              <a:buNone/>
            </a:pPr>
            <a:r>
              <a:rPr lang="en-US" sz="1050" dirty="0">
                <a:solidFill>
                  <a:srgbClr val="6F6757"/>
                </a:solidFill>
                <a:latin typeface="Calibri" pitchFamily="34" charset="0"/>
                <a:ea typeface="Calibri" pitchFamily="34" charset="-122"/>
                <a:cs typeface="Calibri" pitchFamily="34" charset="-120"/>
              </a:rPr>
              <a:t>Out-of-order runs get HTTP 409. Reject invalidates everything downstream. Write stages are safely re-runnable for iteration.</a:t>
            </a:r>
            <a:endParaRPr lang="en-US" sz="1050" dirty="0"/>
          </a:p>
        </p:txBody>
      </p:sp>
      <p:sp>
        <p:nvSpPr>
          <p:cNvPr id="29" name="Shape 22"/>
          <p:cNvSpPr/>
          <p:nvPr/>
        </p:nvSpPr>
        <p:spPr>
          <a:xfrm>
            <a:off x="8010144" y="3794760"/>
            <a:ext cx="3502152" cy="1938528"/>
          </a:xfrm>
          <a:prstGeom prst="rect">
            <a:avLst/>
          </a:prstGeom>
          <a:solidFill>
            <a:srgbClr val="FDFBF4"/>
          </a:solidFill>
          <a:ln w="12700">
            <a:solidFill>
              <a:srgbClr val="DCD4C0"/>
            </a:solidFill>
            <a:prstDash val="solid"/>
          </a:ln>
        </p:spPr>
      </p:sp>
      <p:sp>
        <p:nvSpPr>
          <p:cNvPr id="30" name="Shape 23"/>
          <p:cNvSpPr/>
          <p:nvPr/>
        </p:nvSpPr>
        <p:spPr>
          <a:xfrm>
            <a:off x="8211312" y="3977640"/>
            <a:ext cx="420624" cy="420624"/>
          </a:xfrm>
          <a:prstGeom prst="ellipse">
            <a:avLst/>
          </a:prstGeom>
          <a:solidFill>
            <a:srgbClr val="EDE8D9"/>
          </a:solidFill>
          <a:ln/>
        </p:spPr>
      </p:sp>
      <p:pic>
        <p:nvPicPr>
          <p:cNvPr id="31" name="Image 5" descr="preencoded.png">    </p:cNvPr>
          <p:cNvPicPr>
            <a:picLocks noChangeAspect="1"/>
          </p:cNvPicPr>
          <p:nvPr/>
        </p:nvPicPr>
        <p:blipFill>
          <a:blip r:embed="rId6"/>
          <a:stretch>
            <a:fillRect/>
          </a:stretch>
        </p:blipFill>
        <p:spPr>
          <a:xfrm>
            <a:off x="8316468" y="4082796"/>
            <a:ext cx="210312" cy="210312"/>
          </a:xfrm>
          <a:prstGeom prst="rect">
            <a:avLst/>
          </a:prstGeom>
        </p:spPr>
      </p:pic>
      <p:sp>
        <p:nvSpPr>
          <p:cNvPr id="32" name="Text 24"/>
          <p:cNvSpPr/>
          <p:nvPr/>
        </p:nvSpPr>
        <p:spPr>
          <a:xfrm>
            <a:off x="8759952" y="4014216"/>
            <a:ext cx="2587752" cy="320040"/>
          </a:xfrm>
          <a:prstGeom prst="rect">
            <a:avLst/>
          </a:prstGeom>
          <a:noFill/>
          <a:ln/>
        </p:spPr>
        <p:txBody>
          <a:bodyPr wrap="square" lIns="0" tIns="0" rIns="0" bIns="0" rtlCol="0" anchor="ctr"/>
          <a:lstStyle/>
          <a:p>
            <a:pPr indent="0" marL="0">
              <a:buNone/>
            </a:pPr>
            <a:r>
              <a:rPr lang="en-US" sz="1350" b="1" dirty="0">
                <a:solidFill>
                  <a:srgbClr val="211C12"/>
                </a:solidFill>
                <a:latin typeface="Calibri" pitchFamily="34" charset="0"/>
                <a:ea typeface="Calibri" pitchFamily="34" charset="-122"/>
                <a:cs typeface="Calibri" pitchFamily="34" charset="-120"/>
              </a:rPr>
              <a:t>Degrades gracefully</a:t>
            </a:r>
            <a:endParaRPr lang="en-US" sz="1350" dirty="0"/>
          </a:p>
        </p:txBody>
      </p:sp>
      <p:sp>
        <p:nvSpPr>
          <p:cNvPr id="33" name="Text 25"/>
          <p:cNvSpPr/>
          <p:nvPr/>
        </p:nvSpPr>
        <p:spPr>
          <a:xfrm>
            <a:off x="8211312" y="4507992"/>
            <a:ext cx="3099816" cy="1115568"/>
          </a:xfrm>
          <a:prstGeom prst="rect">
            <a:avLst/>
          </a:prstGeom>
          <a:noFill/>
          <a:ln/>
        </p:spPr>
        <p:txBody>
          <a:bodyPr wrap="square" lIns="0" tIns="0" rIns="0" bIns="0" rtlCol="0" anchor="ctr"/>
          <a:lstStyle/>
          <a:p>
            <a:pPr indent="0" marL="0">
              <a:lnSpc>
                <a:spcPct val="108000"/>
              </a:lnSpc>
              <a:buNone/>
            </a:pPr>
            <a:r>
              <a:rPr lang="en-US" sz="1050" dirty="0">
                <a:solidFill>
                  <a:srgbClr val="6F6757"/>
                </a:solidFill>
                <a:latin typeface="Calibri" pitchFamily="34" charset="0"/>
                <a:ea typeface="Calibri" pitchFamily="34" charset="-122"/>
                <a:cs typeface="Calibri" pitchFamily="34" charset="-120"/>
              </a:rPr>
              <a:t>No API key → mock mode. No network → synthetic dataset. Failed code-gen → failures fed back, one retry, then back to the human.</a:t>
            </a:r>
            <a:endParaRPr lang="en-US" sz="1050" dirty="0"/>
          </a:p>
        </p:txBody>
      </p:sp>
      <p:sp>
        <p:nvSpPr>
          <p:cNvPr id="34" name="Text 26"/>
          <p:cNvSpPr/>
          <p:nvPr/>
        </p:nvSpPr>
        <p:spPr>
          <a:xfrm>
            <a:off x="822960" y="5989320"/>
            <a:ext cx="10607040" cy="274320"/>
          </a:xfrm>
          <a:prstGeom prst="rect">
            <a:avLst/>
          </a:prstGeom>
          <a:noFill/>
          <a:ln/>
        </p:spPr>
        <p:txBody>
          <a:bodyPr wrap="square" lIns="0" tIns="0" rIns="0" bIns="0" rtlCol="0" anchor="ctr"/>
          <a:lstStyle/>
          <a:p>
            <a:pPr indent="0" marL="0">
              <a:buNone/>
            </a:pPr>
            <a:r>
              <a:rPr lang="en-US" sz="1000" dirty="0">
                <a:solidFill>
                  <a:srgbClr val="6F6757"/>
                </a:solidFill>
                <a:latin typeface="Courier New" pitchFamily="34" charset="0"/>
                <a:ea typeface="Courier New" pitchFamily="34" charset="-122"/>
                <a:cs typeface="Courier New" pitchFamily="34" charset="-120"/>
              </a:rPr>
              <a:t>Python 3.11 · FastAPI · pandas · pytest    ·    React + Vite + Tailwind + Recharts    ·    the LLM appears in exactly 2 of 7 stages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7"/>
        </a:solidFill>
      </p:bgPr>
    </p:bg>
    <p:spTree>
      <p:nvGrpSpPr>
        <p:cNvPr id="1" name=""/>
        <p:cNvGrpSpPr/>
        <p:nvPr/>
      </p:nvGrpSpPr>
      <p:grpSpPr>
        <a:xfrm>
          <a:off x="0" y="0"/>
          <a:ext cx="0" cy="0"/>
          <a:chOff x="0" y="0"/>
          <a:chExt cx="0" cy="0"/>
        </a:xfrm>
      </p:grpSpPr>
      <p:sp>
        <p:nvSpPr>
          <p:cNvPr id="2" name="Text 0"/>
          <p:cNvSpPr/>
          <p:nvPr/>
        </p:nvSpPr>
        <p:spPr>
          <a:xfrm>
            <a:off x="822960" y="457200"/>
            <a:ext cx="7315200" cy="274320"/>
          </a:xfrm>
          <a:prstGeom prst="rect">
            <a:avLst/>
          </a:prstGeom>
          <a:noFill/>
          <a:ln/>
        </p:spPr>
        <p:txBody>
          <a:bodyPr wrap="square" lIns="0" tIns="0" rIns="0" bIns="0" rtlCol="0" anchor="ctr"/>
          <a:lstStyle/>
          <a:p>
            <a:pPr indent="0" marL="0">
              <a:buNone/>
            </a:pPr>
            <a:r>
              <a:rPr lang="en-US" sz="1100" spc="300" kern="0" dirty="0">
                <a:solidFill>
                  <a:srgbClr val="1F5C3A"/>
                </a:solidFill>
                <a:latin typeface="Courier New" pitchFamily="34" charset="0"/>
                <a:ea typeface="Courier New" pitchFamily="34" charset="-122"/>
                <a:cs typeface="Courier New" pitchFamily="34" charset="-120"/>
              </a:rPr>
              <a:t>IMPACT &amp; SPEED-UP</a:t>
            </a:r>
            <a:endParaRPr lang="en-US" sz="1100" dirty="0"/>
          </a:p>
        </p:txBody>
      </p:sp>
      <p:sp>
        <p:nvSpPr>
          <p:cNvPr id="3" name="Text 1"/>
          <p:cNvSpPr/>
          <p:nvPr/>
        </p:nvSpPr>
        <p:spPr>
          <a:xfrm>
            <a:off x="822960" y="749808"/>
            <a:ext cx="10607040" cy="640080"/>
          </a:xfrm>
          <a:prstGeom prst="rect">
            <a:avLst/>
          </a:prstGeom>
          <a:noFill/>
          <a:ln/>
        </p:spPr>
        <p:txBody>
          <a:bodyPr wrap="square" lIns="0" tIns="0" rIns="0" bIns="0" rtlCol="0" anchor="ctr"/>
          <a:lstStyle/>
          <a:p>
            <a:pPr indent="0" marL="0">
              <a:buNone/>
            </a:pPr>
            <a:r>
              <a:rPr lang="en-US" sz="2900" b="1" dirty="0">
                <a:solidFill>
                  <a:srgbClr val="211C12"/>
                </a:solidFill>
                <a:latin typeface="Century Schoolbook" pitchFamily="34" charset="0"/>
                <a:ea typeface="Century Schoolbook" pitchFamily="34" charset="-122"/>
                <a:cs typeface="Century Schoolbook" pitchFamily="34" charset="-120"/>
              </a:rPr>
              <a:t>Weeks of consultant archaeology → minutes, with receipts.</a:t>
            </a:r>
            <a:endParaRPr lang="en-US" sz="2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737360"/>
          <a:ext cx="7040880" cy="914400"/>
        </p:xfrm>
        <a:graphic>
          <a:graphicData uri="http://schemas.openxmlformats.org/drawingml/2006/table">
            <a:tbl>
              <a:tblPr/>
              <a:tblGrid>
                <a:gridCol w="1783080"/>
                <a:gridCol w="2606040"/>
                <a:gridCol w="2651760"/>
              </a:tblGrid>
              <a:tr h="566928">
                <a:tc>
                  <a:txBody>
                    <a:bodyPr/>
                    <a:lstStyle/>
                    <a:p>
                      <a:pPr algn="l" indent="0" marL="0">
                        <a:buNone/>
                      </a:pPr>
                      <a:r>
                        <a:rPr lang="en-US" sz="1050" b="1" dirty="0">
                          <a:solidFill>
                            <a:srgbClr val="F4F1E7"/>
                          </a:solidFill>
                          <a:latin typeface="Courier New" pitchFamily="34" charset="0"/>
                          <a:ea typeface="Courier New" pitchFamily="34" charset="-122"/>
                          <a:cs typeface="Courier New" pitchFamily="34" charset="-120"/>
                        </a:rPr>
                        <a:t>TASK</a:t>
                      </a:r>
                      <a:endParaRPr lang="en-US" sz="1050" dirty="0">
                        <a:latin typeface="Courier New" charset="0"/>
                        <a:ea typeface="Courier New" charset="0"/>
                        <a:cs typeface="Courier New"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211C12"/>
                    </a:solidFill>
                  </a:tcPr>
                </a:tc>
                <a:tc>
                  <a:txBody>
                    <a:bodyPr/>
                    <a:lstStyle/>
                    <a:p>
                      <a:pPr algn="l" indent="0" marL="0">
                        <a:buNone/>
                      </a:pPr>
                      <a:r>
                        <a:rPr lang="en-US" sz="1050" b="1" dirty="0">
                          <a:solidFill>
                            <a:srgbClr val="F4F1E7"/>
                          </a:solidFill>
                          <a:latin typeface="Courier New" pitchFamily="34" charset="0"/>
                          <a:ea typeface="Courier New" pitchFamily="34" charset="-122"/>
                          <a:cs typeface="Courier New" pitchFamily="34" charset="-120"/>
                        </a:rPr>
                        <a:t>THE OLD WAY</a:t>
                      </a:r>
                      <a:endParaRPr lang="en-US" sz="1050" dirty="0">
                        <a:latin typeface="Courier New" charset="0"/>
                        <a:ea typeface="Courier New" charset="0"/>
                        <a:cs typeface="Courier New"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211C12"/>
                    </a:solidFill>
                  </a:tcPr>
                </a:tc>
                <a:tc>
                  <a:txBody>
                    <a:bodyPr/>
                    <a:lstStyle/>
                    <a:p>
                      <a:pPr algn="l" indent="0" marL="0">
                        <a:buNone/>
                      </a:pPr>
                      <a:r>
                        <a:rPr lang="en-US" sz="1050" b="1" dirty="0">
                          <a:solidFill>
                            <a:srgbClr val="F4F1E7"/>
                          </a:solidFill>
                          <a:latin typeface="Courier New" pitchFamily="34" charset="0"/>
                          <a:ea typeface="Courier New" pitchFamily="34" charset="-122"/>
                          <a:cs typeface="Courier New" pitchFamily="34" charset="-120"/>
                        </a:rPr>
                        <a:t>RULELIFT</a:t>
                      </a:r>
                      <a:endParaRPr lang="en-US" sz="1050" dirty="0">
                        <a:latin typeface="Courier New" charset="0"/>
                        <a:ea typeface="Courier New" charset="0"/>
                        <a:cs typeface="Courier New"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211C12"/>
                    </a:solidFill>
                  </a:tcPr>
                </a:tc>
              </a:tr>
              <a:tr h="566928">
                <a:tc>
                  <a:txBody>
                    <a:bodyPr/>
                    <a:lstStyle/>
                    <a:p>
                      <a:pPr indent="0" marL="0">
                        <a:buNone/>
                      </a:pPr>
                      <a:r>
                        <a:rPr lang="en-US" sz="1150" b="1" dirty="0">
                          <a:solidFill>
                            <a:srgbClr val="211C12"/>
                          </a:solidFill>
                          <a:latin typeface="Calibri" pitchFamily="34" charset="0"/>
                          <a:ea typeface="Calibri" pitchFamily="34" charset="-122"/>
                          <a:cs typeface="Calibri" pitchFamily="34" charset="-120"/>
                        </a:rPr>
                        <a:t>Recover the rule</a:t>
                      </a:r>
                      <a:endParaRPr lang="en-US" sz="1150" dirty="0">
                        <a:latin typeface="Calibri" charset="0"/>
                        <a:ea typeface="Calibri" charset="0"/>
                        <a:cs typeface="Calibri"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FDFBF4"/>
                    </a:solidFill>
                  </a:tcPr>
                </a:tc>
                <a:tc>
                  <a:txBody>
                    <a:bodyPr/>
                    <a:lstStyle/>
                    <a:p>
                      <a:pPr indent="0" marL="0">
                        <a:buNone/>
                      </a:pPr>
                      <a:r>
                        <a:rPr lang="en-US" sz="1150" dirty="0">
                          <a:solidFill>
                            <a:srgbClr val="6F6757"/>
                          </a:solidFill>
                          <a:latin typeface="Calibri" pitchFamily="34" charset="0"/>
                          <a:ea typeface="Calibri" pitchFamily="34" charset="-122"/>
                          <a:cs typeface="Calibri" pitchFamily="34" charset="-120"/>
                        </a:rPr>
                        <a:t>2–6 weeks of code reading</a:t>
                      </a:r>
                      <a:endParaRPr lang="en-US" sz="1150" dirty="0">
                        <a:latin typeface="Calibri" charset="0"/>
                        <a:ea typeface="Calibri" charset="0"/>
                        <a:cs typeface="Calibri"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FDFBF4"/>
                    </a:solidFill>
                  </a:tcPr>
                </a:tc>
                <a:tc>
                  <a:txBody>
                    <a:bodyPr/>
                    <a:lstStyle/>
                    <a:p>
                      <a:pPr indent="0" marL="0">
                        <a:buNone/>
                      </a:pPr>
                      <a:r>
                        <a:rPr lang="en-US" sz="1150" b="1" dirty="0">
                          <a:solidFill>
                            <a:srgbClr val="1F5C3A"/>
                          </a:solidFill>
                          <a:latin typeface="Calibri" pitchFamily="34" charset="0"/>
                          <a:ea typeface="Calibri" pitchFamily="34" charset="-122"/>
                          <a:cs typeface="Calibri" pitchFamily="34" charset="-120"/>
                        </a:rPr>
                        <a:t>~30 seconds, in plain English</a:t>
                      </a:r>
                      <a:endParaRPr lang="en-US" sz="1150" dirty="0">
                        <a:latin typeface="Calibri" charset="0"/>
                        <a:ea typeface="Calibri" charset="0"/>
                        <a:cs typeface="Calibri"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FDFBF4"/>
                    </a:solidFill>
                  </a:tcPr>
                </a:tc>
              </a:tr>
              <a:tr h="566928">
                <a:tc>
                  <a:txBody>
                    <a:bodyPr/>
                    <a:lstStyle/>
                    <a:p>
                      <a:pPr indent="0" marL="0">
                        <a:buNone/>
                      </a:pPr>
                      <a:r>
                        <a:rPr lang="en-US" sz="1150" b="1" dirty="0">
                          <a:solidFill>
                            <a:srgbClr val="211C12"/>
                          </a:solidFill>
                          <a:latin typeface="Calibri" pitchFamily="34" charset="0"/>
                          <a:ea typeface="Calibri" pitchFamily="34" charset="-122"/>
                          <a:cs typeface="Calibri" pitchFamily="34" charset="-120"/>
                        </a:rPr>
                        <a:t>Verify the understanding</a:t>
                      </a:r>
                      <a:endParaRPr lang="en-US" sz="1150" dirty="0">
                        <a:latin typeface="Calibri" charset="0"/>
                        <a:ea typeface="Calibri" charset="0"/>
                        <a:cs typeface="Calibri"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FDFBF4"/>
                    </a:solidFill>
                  </a:tcPr>
                </a:tc>
                <a:tc>
                  <a:txBody>
                    <a:bodyPr/>
                    <a:lstStyle/>
                    <a:p>
                      <a:pPr indent="0" marL="0">
                        <a:buNone/>
                      </a:pPr>
                      <a:r>
                        <a:rPr lang="en-US" sz="1150" dirty="0">
                          <a:solidFill>
                            <a:srgbClr val="6F6757"/>
                          </a:solidFill>
                          <a:latin typeface="Calibri" pitchFamily="34" charset="0"/>
                          <a:ea typeface="Calibri" pitchFamily="34" charset="-122"/>
                          <a:cs typeface="Calibri" pitchFamily="34" charset="-120"/>
                        </a:rPr>
                        <a:t>manual spot checks — and hope</a:t>
                      </a:r>
                      <a:endParaRPr lang="en-US" sz="1150" dirty="0">
                        <a:latin typeface="Calibri" charset="0"/>
                        <a:ea typeface="Calibri" charset="0"/>
                        <a:cs typeface="Calibri"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FDFBF4"/>
                    </a:solidFill>
                  </a:tcPr>
                </a:tc>
                <a:tc>
                  <a:txBody>
                    <a:bodyPr/>
                    <a:lstStyle/>
                    <a:p>
                      <a:pPr indent="0" marL="0">
                        <a:buNone/>
                      </a:pPr>
                      <a:r>
                        <a:rPr lang="en-US" sz="1150" b="1" dirty="0">
                          <a:solidFill>
                            <a:srgbClr val="1F5C3A"/>
                          </a:solidFill>
                          <a:latin typeface="Calibri" pitchFamily="34" charset="0"/>
                          <a:ea typeface="Calibri" pitchFamily="34" charset="-122"/>
                          <a:cs typeface="Calibri" pitchFamily="34" charset="-120"/>
                        </a:rPr>
                        <a:t>21,990-record replay, exact fidelity %</a:t>
                      </a:r>
                      <a:endParaRPr lang="en-US" sz="1150" dirty="0">
                        <a:latin typeface="Calibri" charset="0"/>
                        <a:ea typeface="Calibri" charset="0"/>
                        <a:cs typeface="Calibri"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FDFBF4"/>
                    </a:solidFill>
                  </a:tcPr>
                </a:tc>
              </a:tr>
              <a:tr h="566928">
                <a:tc>
                  <a:txBody>
                    <a:bodyPr/>
                    <a:lstStyle/>
                    <a:p>
                      <a:pPr indent="0" marL="0">
                        <a:buNone/>
                      </a:pPr>
                      <a:r>
                        <a:rPr lang="en-US" sz="1150" b="1" dirty="0">
                          <a:solidFill>
                            <a:srgbClr val="211C12"/>
                          </a:solidFill>
                          <a:latin typeface="Calibri" pitchFamily="34" charset="0"/>
                          <a:ea typeface="Calibri" pitchFamily="34" charset="-122"/>
                          <a:cs typeface="Calibri" pitchFamily="34" charset="-120"/>
                        </a:rPr>
                        <a:t>Price a rule change</a:t>
                      </a:r>
                      <a:endParaRPr lang="en-US" sz="1150" dirty="0">
                        <a:latin typeface="Calibri" charset="0"/>
                        <a:ea typeface="Calibri" charset="0"/>
                        <a:cs typeface="Calibri"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FDFBF4"/>
                    </a:solidFill>
                  </a:tcPr>
                </a:tc>
                <a:tc>
                  <a:txBody>
                    <a:bodyPr/>
                    <a:lstStyle/>
                    <a:p>
                      <a:pPr indent="0" marL="0">
                        <a:buNone/>
                      </a:pPr>
                      <a:r>
                        <a:rPr lang="en-US" sz="1150" dirty="0">
                          <a:solidFill>
                            <a:srgbClr val="6F6757"/>
                          </a:solidFill>
                          <a:latin typeface="Calibri" pitchFamily="34" charset="0"/>
                          <a:ea typeface="Calibri" pitchFamily="34" charset="-122"/>
                          <a:cs typeface="Calibri" pitchFamily="34" charset="-120"/>
                        </a:rPr>
                        <a:t>days of BI queries and spreadsheets</a:t>
                      </a:r>
                      <a:endParaRPr lang="en-US" sz="1150" dirty="0">
                        <a:latin typeface="Calibri" charset="0"/>
                        <a:ea typeface="Calibri" charset="0"/>
                        <a:cs typeface="Calibri"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FDFBF4"/>
                    </a:solidFill>
                  </a:tcPr>
                </a:tc>
                <a:tc>
                  <a:txBody>
                    <a:bodyPr/>
                    <a:lstStyle/>
                    <a:p>
                      <a:pPr indent="0" marL="0">
                        <a:buNone/>
                      </a:pPr>
                      <a:r>
                        <a:rPr lang="en-US" sz="1150" b="1" dirty="0">
                          <a:solidFill>
                            <a:srgbClr val="1F5C3A"/>
                          </a:solidFill>
                          <a:latin typeface="Calibri" pitchFamily="34" charset="0"/>
                          <a:ea typeface="Calibri" pitchFamily="34" charset="-122"/>
                          <a:cs typeface="Calibri" pitchFamily="34" charset="-120"/>
                        </a:rPr>
                        <a:t>instant, computed on the real ledger</a:t>
                      </a:r>
                      <a:endParaRPr lang="en-US" sz="1150" dirty="0">
                        <a:latin typeface="Calibri" charset="0"/>
                        <a:ea typeface="Calibri" charset="0"/>
                        <a:cs typeface="Calibri"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FDFBF4"/>
                    </a:solidFill>
                  </a:tcPr>
                </a:tc>
              </a:tr>
              <a:tr h="566928">
                <a:tc>
                  <a:txBody>
                    <a:bodyPr/>
                    <a:lstStyle/>
                    <a:p>
                      <a:pPr indent="0" marL="0">
                        <a:buNone/>
                      </a:pPr>
                      <a:r>
                        <a:rPr lang="en-US" sz="1150" b="1" dirty="0">
                          <a:solidFill>
                            <a:srgbClr val="211C12"/>
                          </a:solidFill>
                          <a:latin typeface="Calibri" pitchFamily="34" charset="0"/>
                          <a:ea typeface="Calibri" pitchFamily="34" charset="-122"/>
                          <a:cs typeface="Calibri" pitchFamily="34" charset="-120"/>
                        </a:rPr>
                        <a:t>Ship the change + tests</a:t>
                      </a:r>
                      <a:endParaRPr lang="en-US" sz="1150" dirty="0">
                        <a:latin typeface="Calibri" charset="0"/>
                        <a:ea typeface="Calibri" charset="0"/>
                        <a:cs typeface="Calibri"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FDFBF4"/>
                    </a:solidFill>
                  </a:tcPr>
                </a:tc>
                <a:tc>
                  <a:txBody>
                    <a:bodyPr/>
                    <a:lstStyle/>
                    <a:p>
                      <a:pPr indent="0" marL="0">
                        <a:buNone/>
                      </a:pPr>
                      <a:r>
                        <a:rPr lang="en-US" sz="1150" dirty="0">
                          <a:solidFill>
                            <a:srgbClr val="6F6757"/>
                          </a:solidFill>
                          <a:latin typeface="Calibri" pitchFamily="34" charset="0"/>
                          <a:ea typeface="Calibri" pitchFamily="34" charset="-122"/>
                          <a:cs typeface="Calibri" pitchFamily="34" charset="-120"/>
                        </a:rPr>
                        <a:t>1–2 sprints, hand-written tests</a:t>
                      </a:r>
                      <a:endParaRPr lang="en-US" sz="1150" dirty="0">
                        <a:latin typeface="Calibri" charset="0"/>
                        <a:ea typeface="Calibri" charset="0"/>
                        <a:cs typeface="Calibri"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FDFBF4"/>
                    </a:solidFill>
                  </a:tcPr>
                </a:tc>
                <a:tc>
                  <a:txBody>
                    <a:bodyPr/>
                    <a:lstStyle/>
                    <a:p>
                      <a:pPr indent="0" marL="0">
                        <a:buNone/>
                      </a:pPr>
                      <a:r>
                        <a:rPr lang="en-US" sz="1150" b="1" dirty="0">
                          <a:solidFill>
                            <a:srgbClr val="1F5C3A"/>
                          </a:solidFill>
                          <a:latin typeface="Calibri" pitchFamily="34" charset="0"/>
                          <a:ea typeface="Calibri" pitchFamily="34" charset="-122"/>
                          <a:cs typeface="Calibri" pitchFamily="34" charset="-120"/>
                        </a:rPr>
                        <a:t>diff + 71 generated golden tests, green</a:t>
                      </a:r>
                      <a:endParaRPr lang="en-US" sz="1150" dirty="0">
                        <a:latin typeface="Calibri" charset="0"/>
                        <a:ea typeface="Calibri" charset="0"/>
                        <a:cs typeface="Calibri"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FDFBF4"/>
                    </a:solidFill>
                  </a:tcPr>
                </a:tc>
              </a:tr>
              <a:tr h="566928">
                <a:tc>
                  <a:txBody>
                    <a:bodyPr/>
                    <a:lstStyle/>
                    <a:p>
                      <a:pPr indent="0" marL="0">
                        <a:buNone/>
                      </a:pPr>
                      <a:r>
                        <a:rPr lang="en-US" sz="1150" b="1" dirty="0">
                          <a:solidFill>
                            <a:srgbClr val="211C12"/>
                          </a:solidFill>
                          <a:latin typeface="Calibri" pitchFamily="34" charset="0"/>
                          <a:ea typeface="Calibri" pitchFamily="34" charset="-122"/>
                          <a:cs typeface="Calibri" pitchFamily="34" charset="-120"/>
                        </a:rPr>
                        <a:t>Confidence at sign-off</a:t>
                      </a:r>
                      <a:endParaRPr lang="en-US" sz="1150" dirty="0">
                        <a:latin typeface="Calibri" charset="0"/>
                        <a:ea typeface="Calibri" charset="0"/>
                        <a:cs typeface="Calibri"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FDFBF4"/>
                    </a:solidFill>
                  </a:tcPr>
                </a:tc>
                <a:tc>
                  <a:txBody>
                    <a:bodyPr/>
                    <a:lstStyle/>
                    <a:p>
                      <a:pPr indent="0" marL="0">
                        <a:buNone/>
                      </a:pPr>
                      <a:r>
                        <a:rPr lang="en-US" sz="1150" dirty="0">
                          <a:solidFill>
                            <a:srgbClr val="6F6757"/>
                          </a:solidFill>
                          <a:latin typeface="Calibri" pitchFamily="34" charset="0"/>
                          <a:ea typeface="Calibri" pitchFamily="34" charset="-122"/>
                          <a:cs typeface="Calibri" pitchFamily="34" charset="-120"/>
                        </a:rPr>
                        <a:t>“trust the consultant’s memo”</a:t>
                      </a:r>
                      <a:endParaRPr lang="en-US" sz="1150" dirty="0">
                        <a:latin typeface="Calibri" charset="0"/>
                        <a:ea typeface="Calibri" charset="0"/>
                        <a:cs typeface="Calibri"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FDFBF4"/>
                    </a:solidFill>
                  </a:tcPr>
                </a:tc>
                <a:tc>
                  <a:txBody>
                    <a:bodyPr/>
                    <a:lstStyle/>
                    <a:p>
                      <a:pPr indent="0" marL="0">
                        <a:buNone/>
                      </a:pPr>
                      <a:r>
                        <a:rPr lang="en-US" sz="1150" b="1" dirty="0">
                          <a:solidFill>
                            <a:srgbClr val="1F5C3A"/>
                          </a:solidFill>
                          <a:latin typeface="Calibri" pitchFamily="34" charset="0"/>
                          <a:ea typeface="Calibri" pitchFamily="34" charset="-122"/>
                          <a:cs typeface="Calibri" pitchFamily="34" charset="-120"/>
                        </a:rPr>
                        <a:t>counted, on screen, reproducible</a:t>
                      </a:r>
                      <a:endParaRPr lang="en-US" sz="1150" dirty="0">
                        <a:latin typeface="Calibri" charset="0"/>
                        <a:ea typeface="Calibri" charset="0"/>
                        <a:cs typeface="Calibri" charset="0"/>
                      </a:endParaRPr>
                    </a:p>
                  </a:txBody>
                  <a:tcPr marL="82296" marR="82296" marT="82296" marB="82296" anchor="ctr">
                    <a:lnL w="9525" cap="flat" cmpd="sng" algn="ctr">
                      <a:solidFill>
                        <a:srgbClr val="DCD4C0"/>
                      </a:solidFill>
                      <a:prstDash val="solid"/>
                      <a:round/>
                      <a:headEnd type="none" w="med" len="med"/>
                      <a:tailEnd type="none" w="med" len="med"/>
                    </a:lnL>
                    <a:lnR w="9525" cap="flat" cmpd="sng" algn="ctr">
                      <a:solidFill>
                        <a:srgbClr val="DCD4C0"/>
                      </a:solidFill>
                      <a:prstDash val="solid"/>
                      <a:round/>
                      <a:headEnd type="none" w="med" len="med"/>
                      <a:tailEnd type="none" w="med" len="med"/>
                    </a:lnR>
                    <a:lnT w="9525" cap="flat" cmpd="sng" algn="ctr">
                      <a:solidFill>
                        <a:srgbClr val="DCD4C0"/>
                      </a:solidFill>
                      <a:prstDash val="solid"/>
                      <a:round/>
                      <a:headEnd type="none" w="med" len="med"/>
                      <a:tailEnd type="none" w="med" len="med"/>
                    </a:lnT>
                    <a:lnB w="9525" cap="flat" cmpd="sng" algn="ctr">
                      <a:solidFill>
                        <a:srgbClr val="DCD4C0"/>
                      </a:solidFill>
                      <a:prstDash val="solid"/>
                      <a:round/>
                      <a:headEnd type="none" w="med" len="med"/>
                      <a:tailEnd type="none" w="med" len="med"/>
                    </a:lnB>
                    <a:solidFill>
                      <a:srgbClr val="FDFBF4"/>
                    </a:solidFill>
                  </a:tcPr>
                </a:tc>
              </a:tr>
            </a:tbl>
          </a:graphicData>
        </a:graphic>
      </p:graphicFrame>
      <p:sp>
        <p:nvSpPr>
          <p:cNvPr id="5" name="Text 2"/>
          <p:cNvSpPr/>
          <p:nvPr/>
        </p:nvSpPr>
        <p:spPr>
          <a:xfrm>
            <a:off x="8321040" y="1783080"/>
            <a:ext cx="3017520" cy="777240"/>
          </a:xfrm>
          <a:prstGeom prst="rect">
            <a:avLst/>
          </a:prstGeom>
          <a:noFill/>
          <a:ln/>
        </p:spPr>
        <p:txBody>
          <a:bodyPr wrap="square" lIns="0" tIns="0" rIns="0" bIns="0" rtlCol="0" anchor="ctr"/>
          <a:lstStyle/>
          <a:p>
            <a:pPr indent="0" marL="0">
              <a:buNone/>
            </a:pPr>
            <a:r>
              <a:rPr lang="en-US" sz="4400" b="1" dirty="0">
                <a:solidFill>
                  <a:srgbClr val="9C2F1F"/>
                </a:solidFill>
                <a:latin typeface="Century Schoolbook" pitchFamily="34" charset="0"/>
                <a:ea typeface="Century Schoolbook" pitchFamily="34" charset="-122"/>
                <a:cs typeface="Century Schoolbook" pitchFamily="34" charset="-120"/>
              </a:rPr>
              <a:t>£35.2M</a:t>
            </a:r>
            <a:endParaRPr lang="en-US" sz="4400" dirty="0"/>
          </a:p>
        </p:txBody>
      </p:sp>
      <p:sp>
        <p:nvSpPr>
          <p:cNvPr id="6" name="Text 3"/>
          <p:cNvSpPr/>
          <p:nvPr/>
        </p:nvSpPr>
        <p:spPr>
          <a:xfrm>
            <a:off x="8321040" y="2578608"/>
            <a:ext cx="3017520" cy="274320"/>
          </a:xfrm>
          <a:prstGeom prst="rect">
            <a:avLst/>
          </a:prstGeom>
          <a:noFill/>
          <a:ln/>
        </p:spPr>
        <p:txBody>
          <a:bodyPr wrap="square" lIns="0" tIns="0" rIns="0" bIns="0" rtlCol="0" anchor="ctr"/>
          <a:lstStyle/>
          <a:p>
            <a:pPr indent="0" marL="0">
              <a:buNone/>
            </a:pPr>
            <a:r>
              <a:rPr lang="en-US" sz="950" spc="200" kern="0" dirty="0">
                <a:solidFill>
                  <a:srgbClr val="211C12"/>
                </a:solidFill>
                <a:latin typeface="Courier New" pitchFamily="34" charset="0"/>
                <a:ea typeface="Courier New" pitchFamily="34" charset="-122"/>
                <a:cs typeface="Courier New" pitchFamily="34" charset="-120"/>
              </a:rPr>
              <a:t>MIS-CHARGE CAUGHT IN THE FIRST REPLAY</a:t>
            </a:r>
            <a:endParaRPr lang="en-US" sz="950" dirty="0"/>
          </a:p>
        </p:txBody>
      </p:sp>
      <p:sp>
        <p:nvSpPr>
          <p:cNvPr id="7" name="Text 4"/>
          <p:cNvSpPr/>
          <p:nvPr/>
        </p:nvSpPr>
        <p:spPr>
          <a:xfrm>
            <a:off x="8321040" y="2871216"/>
            <a:ext cx="3017520" cy="685800"/>
          </a:xfrm>
          <a:prstGeom prst="rect">
            <a:avLst/>
          </a:prstGeom>
          <a:noFill/>
          <a:ln/>
        </p:spPr>
        <p:txBody>
          <a:bodyPr wrap="square" lIns="0" tIns="0" rIns="0" bIns="0" rtlCol="0" anchor="ctr"/>
          <a:lstStyle/>
          <a:p>
            <a:pPr indent="0" marL="0">
              <a:buNone/>
            </a:pPr>
            <a:r>
              <a:rPr lang="en-US" sz="1100" dirty="0">
                <a:solidFill>
                  <a:srgbClr val="6F6757"/>
                </a:solidFill>
                <a:latin typeface="Calibri" pitchFamily="34" charset="0"/>
                <a:ea typeface="Calibri" pitchFamily="34" charset="-122"/>
                <a:cs typeface="Calibri" pitchFamily="34" charset="-120"/>
              </a:rPr>
              <a:t>A defect that had survived every manual review — surfaced as a by-product of proving the extraction.</a:t>
            </a:r>
            <a:endParaRPr lang="en-US" sz="1100" dirty="0"/>
          </a:p>
        </p:txBody>
      </p:sp>
      <p:sp>
        <p:nvSpPr>
          <p:cNvPr id="8" name="Shape 5"/>
          <p:cNvSpPr/>
          <p:nvPr/>
        </p:nvSpPr>
        <p:spPr>
          <a:xfrm>
            <a:off x="8321040" y="3749040"/>
            <a:ext cx="3017520" cy="0"/>
          </a:xfrm>
          <a:prstGeom prst="line">
            <a:avLst/>
          </a:prstGeom>
          <a:noFill/>
          <a:ln w="12700">
            <a:solidFill>
              <a:srgbClr val="DCD4C0"/>
            </a:solidFill>
            <a:prstDash val="solid"/>
          </a:ln>
        </p:spPr>
      </p:sp>
      <p:sp>
        <p:nvSpPr>
          <p:cNvPr id="9" name="Text 6"/>
          <p:cNvSpPr/>
          <p:nvPr/>
        </p:nvSpPr>
        <p:spPr>
          <a:xfrm>
            <a:off x="8321040" y="3913632"/>
            <a:ext cx="3017520" cy="594360"/>
          </a:xfrm>
          <a:prstGeom prst="rect">
            <a:avLst/>
          </a:prstGeom>
          <a:noFill/>
          <a:ln/>
        </p:spPr>
        <p:txBody>
          <a:bodyPr wrap="square" lIns="0" tIns="0" rIns="0" bIns="0" rtlCol="0" anchor="ctr"/>
          <a:lstStyle/>
          <a:p>
            <a:pPr indent="0" marL="0">
              <a:buNone/>
            </a:pPr>
            <a:r>
              <a:rPr lang="en-US" sz="3200" b="1" dirty="0">
                <a:solidFill>
                  <a:srgbClr val="211C12"/>
                </a:solidFill>
                <a:latin typeface="Century Schoolbook" pitchFamily="34" charset="0"/>
                <a:ea typeface="Century Schoolbook" pitchFamily="34" charset="-122"/>
                <a:cs typeface="Century Schoolbook" pitchFamily="34" charset="-120"/>
              </a:rPr>
              <a:t>£23.7M</a:t>
            </a:r>
            <a:endParaRPr lang="en-US" sz="3200" dirty="0"/>
          </a:p>
        </p:txBody>
      </p:sp>
      <p:sp>
        <p:nvSpPr>
          <p:cNvPr id="10" name="Text 7"/>
          <p:cNvSpPr/>
          <p:nvPr/>
        </p:nvSpPr>
        <p:spPr>
          <a:xfrm>
            <a:off x="8321040" y="4526280"/>
            <a:ext cx="3017520" cy="685800"/>
          </a:xfrm>
          <a:prstGeom prst="rect">
            <a:avLst/>
          </a:prstGeom>
          <a:noFill/>
          <a:ln/>
        </p:spPr>
        <p:txBody>
          <a:bodyPr wrap="square" lIns="0" tIns="0" rIns="0" bIns="0" rtlCol="0" anchor="ctr"/>
          <a:lstStyle/>
          <a:p>
            <a:pPr indent="0" marL="0">
              <a:buNone/>
            </a:pPr>
            <a:r>
              <a:rPr lang="en-US" sz="1100" dirty="0">
                <a:solidFill>
                  <a:srgbClr val="6F6757"/>
                </a:solidFill>
                <a:latin typeface="Calibri" pitchFamily="34" charset="0"/>
                <a:ea typeface="Calibri" pitchFamily="34" charset="-122"/>
                <a:cs typeface="Calibri" pitchFamily="34" charset="-120"/>
              </a:rPr>
              <a:t>repriced by one plain-English sentence — 10,438 transactions, quantified before anyone touches code.</a:t>
            </a:r>
            <a:endParaRPr lang="en-US" sz="1100" dirty="0"/>
          </a:p>
        </p:txBody>
      </p:sp>
      <p:sp>
        <p:nvSpPr>
          <p:cNvPr id="11" name="Text 8"/>
          <p:cNvSpPr/>
          <p:nvPr/>
        </p:nvSpPr>
        <p:spPr>
          <a:xfrm>
            <a:off x="8321040" y="5257800"/>
            <a:ext cx="3017520" cy="502920"/>
          </a:xfrm>
          <a:prstGeom prst="rect">
            <a:avLst/>
          </a:prstGeom>
          <a:noFill/>
          <a:ln/>
        </p:spPr>
        <p:txBody>
          <a:bodyPr wrap="square" lIns="0" tIns="0" rIns="0" bIns="0" rtlCol="0" anchor="ctr"/>
          <a:lstStyle/>
          <a:p>
            <a:pPr indent="0" marL="0">
              <a:buNone/>
            </a:pPr>
            <a:r>
              <a:rPr lang="en-US" sz="1100" i="1" dirty="0">
                <a:solidFill>
                  <a:srgbClr val="7D5A10"/>
                </a:solidFill>
                <a:latin typeface="Calibri" pitchFamily="34" charset="0"/>
                <a:ea typeface="Calibri" pitchFamily="34" charset="-122"/>
                <a:cs typeface="Calibri" pitchFamily="34" charset="-120"/>
              </a:rPr>
              <a:t>Same pattern for pricing, commissions, eligibility, billing.</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7"/>
        </a:solidFill>
      </p:bgPr>
    </p:bg>
    <p:spTree>
      <p:nvGrpSpPr>
        <p:cNvPr id="1" name=""/>
        <p:cNvGrpSpPr/>
        <p:nvPr/>
      </p:nvGrpSpPr>
      <p:grpSpPr>
        <a:xfrm>
          <a:off x="0" y="0"/>
          <a:ext cx="0" cy="0"/>
          <a:chOff x="0" y="0"/>
          <a:chExt cx="0" cy="0"/>
        </a:xfrm>
      </p:grpSpPr>
      <p:sp>
        <p:nvSpPr>
          <p:cNvPr id="2" name="Text 0"/>
          <p:cNvSpPr/>
          <p:nvPr/>
        </p:nvSpPr>
        <p:spPr>
          <a:xfrm>
            <a:off x="822960" y="457200"/>
            <a:ext cx="7315200" cy="274320"/>
          </a:xfrm>
          <a:prstGeom prst="rect">
            <a:avLst/>
          </a:prstGeom>
          <a:noFill/>
          <a:ln/>
        </p:spPr>
        <p:txBody>
          <a:bodyPr wrap="square" lIns="0" tIns="0" rIns="0" bIns="0" rtlCol="0" anchor="ctr"/>
          <a:lstStyle/>
          <a:p>
            <a:pPr indent="0" marL="0">
              <a:buNone/>
            </a:pPr>
            <a:r>
              <a:rPr lang="en-US" sz="1100" spc="300" kern="0" dirty="0">
                <a:solidFill>
                  <a:srgbClr val="7D5A10"/>
                </a:solidFill>
                <a:latin typeface="Courier New" pitchFamily="34" charset="0"/>
                <a:ea typeface="Courier New" pitchFamily="34" charset="-122"/>
                <a:cs typeface="Courier New" pitchFamily="34" charset="-120"/>
              </a:rPr>
              <a:t>USER STAYS IN CONTROL</a:t>
            </a:r>
            <a:endParaRPr lang="en-US" sz="1100" dirty="0"/>
          </a:p>
        </p:txBody>
      </p:sp>
      <p:sp>
        <p:nvSpPr>
          <p:cNvPr id="3" name="Text 1"/>
          <p:cNvSpPr/>
          <p:nvPr/>
        </p:nvSpPr>
        <p:spPr>
          <a:xfrm>
            <a:off x="822960" y="749808"/>
            <a:ext cx="10607040" cy="640080"/>
          </a:xfrm>
          <a:prstGeom prst="rect">
            <a:avLst/>
          </a:prstGeom>
          <a:noFill/>
          <a:ln/>
        </p:spPr>
        <p:txBody>
          <a:bodyPr wrap="square" lIns="0" tIns="0" rIns="0" bIns="0" rtlCol="0" anchor="ctr"/>
          <a:lstStyle/>
          <a:p>
            <a:pPr indent="0" marL="0">
              <a:buNone/>
            </a:pPr>
            <a:r>
              <a:rPr lang="en-US" sz="3000" b="1" dirty="0">
                <a:solidFill>
                  <a:srgbClr val="211C12"/>
                </a:solidFill>
                <a:latin typeface="Century Schoolbook" pitchFamily="34" charset="0"/>
                <a:ea typeface="Century Schoolbook" pitchFamily="34" charset="-122"/>
                <a:cs typeface="Century Schoolbook" pitchFamily="34" charset="-120"/>
              </a:rPr>
              <a:t>Control beats autonomy. We built the leash first.</a:t>
            </a:r>
            <a:endParaRPr lang="en-US" sz="3000" dirty="0"/>
          </a:p>
        </p:txBody>
      </p:sp>
      <p:sp>
        <p:nvSpPr>
          <p:cNvPr id="4" name="Shape 2"/>
          <p:cNvSpPr/>
          <p:nvPr/>
        </p:nvSpPr>
        <p:spPr>
          <a:xfrm>
            <a:off x="822960" y="1737360"/>
            <a:ext cx="457200" cy="457200"/>
          </a:xfrm>
          <a:prstGeom prst="ellipse">
            <a:avLst/>
          </a:prstGeom>
          <a:solidFill>
            <a:srgbClr val="EDE8D9"/>
          </a:solidFill>
          <a:ln/>
        </p:spPr>
      </p:sp>
      <p:pic>
        <p:nvPicPr>
          <p:cNvPr id="5" name="Image 0" descr="preencoded.png">    </p:cNvPr>
          <p:cNvPicPr>
            <a:picLocks noChangeAspect="1"/>
          </p:cNvPicPr>
          <p:nvPr/>
        </p:nvPicPr>
        <p:blipFill>
          <a:blip r:embed="rId1"/>
          <a:stretch>
            <a:fillRect/>
          </a:stretch>
        </p:blipFill>
        <p:spPr>
          <a:xfrm>
            <a:off x="937260" y="1851660"/>
            <a:ext cx="228600" cy="228600"/>
          </a:xfrm>
          <a:prstGeom prst="rect">
            <a:avLst/>
          </a:prstGeom>
        </p:spPr>
      </p:pic>
      <p:sp>
        <p:nvSpPr>
          <p:cNvPr id="6" name="Text 3"/>
          <p:cNvSpPr/>
          <p:nvPr/>
        </p:nvSpPr>
        <p:spPr>
          <a:xfrm>
            <a:off x="1444752" y="1682496"/>
            <a:ext cx="4754880" cy="292608"/>
          </a:xfrm>
          <a:prstGeom prst="rect">
            <a:avLst/>
          </a:prstGeom>
          <a:noFill/>
          <a:ln/>
        </p:spPr>
        <p:txBody>
          <a:bodyPr wrap="square" lIns="0" tIns="0" rIns="0" bIns="0" rtlCol="0" anchor="ctr"/>
          <a:lstStyle/>
          <a:p>
            <a:pPr indent="0" marL="0">
              <a:buNone/>
            </a:pPr>
            <a:r>
              <a:rPr lang="en-US" sz="1400" b="1" dirty="0">
                <a:solidFill>
                  <a:srgbClr val="211C12"/>
                </a:solidFill>
                <a:latin typeface="Calibri" pitchFamily="34" charset="0"/>
                <a:ea typeface="Calibri" pitchFamily="34" charset="-122"/>
                <a:cs typeface="Calibri" pitchFamily="34" charset="-120"/>
              </a:rPr>
              <a:t>Seven explicit gates</a:t>
            </a:r>
            <a:endParaRPr lang="en-US" sz="1400" dirty="0"/>
          </a:p>
        </p:txBody>
      </p:sp>
      <p:sp>
        <p:nvSpPr>
          <p:cNvPr id="7" name="Text 4"/>
          <p:cNvSpPr/>
          <p:nvPr/>
        </p:nvSpPr>
        <p:spPr>
          <a:xfrm>
            <a:off x="1444752" y="1975104"/>
            <a:ext cx="4709160" cy="658368"/>
          </a:xfrm>
          <a:prstGeom prst="rect">
            <a:avLst/>
          </a:prstGeom>
          <a:noFill/>
          <a:ln/>
        </p:spPr>
        <p:txBody>
          <a:bodyPr wrap="square" lIns="0" tIns="0" rIns="0" bIns="0" rtlCol="0" anchor="ctr"/>
          <a:lstStyle/>
          <a:p>
            <a:pPr indent="0" marL="0">
              <a:lnSpc>
                <a:spcPct val="105000"/>
              </a:lnSpc>
              <a:buNone/>
            </a:pPr>
            <a:r>
              <a:rPr lang="en-US" sz="1050" dirty="0">
                <a:solidFill>
                  <a:srgbClr val="6F6757"/>
                </a:solidFill>
                <a:latin typeface="Calibri" pitchFamily="34" charset="0"/>
                <a:ea typeface="Calibri" pitchFamily="34" charset="-122"/>
                <a:cs typeface="Calibri" pitchFamily="34" charset="-120"/>
              </a:rPr>
              <a:t>Approve / Skip / Reject on every stage. Nothing pre-computes; approving stage 4 does not imply stage 5.</a:t>
            </a:r>
            <a:endParaRPr lang="en-US" sz="1050" dirty="0"/>
          </a:p>
        </p:txBody>
      </p:sp>
      <p:sp>
        <p:nvSpPr>
          <p:cNvPr id="8" name="Shape 5"/>
          <p:cNvSpPr/>
          <p:nvPr/>
        </p:nvSpPr>
        <p:spPr>
          <a:xfrm>
            <a:off x="822960" y="2706624"/>
            <a:ext cx="457200" cy="457200"/>
          </a:xfrm>
          <a:prstGeom prst="ellipse">
            <a:avLst/>
          </a:prstGeom>
          <a:solidFill>
            <a:srgbClr val="EDE8D9"/>
          </a:solidFill>
          <a:ln/>
        </p:spPr>
      </p:sp>
      <p:pic>
        <p:nvPicPr>
          <p:cNvPr id="9" name="Image 1" descr="preencoded.png">    </p:cNvPr>
          <p:cNvPicPr>
            <a:picLocks noChangeAspect="1"/>
          </p:cNvPicPr>
          <p:nvPr/>
        </p:nvPicPr>
        <p:blipFill>
          <a:blip r:embed="rId2"/>
          <a:stretch>
            <a:fillRect/>
          </a:stretch>
        </p:blipFill>
        <p:spPr>
          <a:xfrm>
            <a:off x="937260" y="2820924"/>
            <a:ext cx="228600" cy="228600"/>
          </a:xfrm>
          <a:prstGeom prst="rect">
            <a:avLst/>
          </a:prstGeom>
        </p:spPr>
      </p:pic>
      <p:sp>
        <p:nvSpPr>
          <p:cNvPr id="10" name="Text 6"/>
          <p:cNvSpPr/>
          <p:nvPr/>
        </p:nvSpPr>
        <p:spPr>
          <a:xfrm>
            <a:off x="1444752" y="2651760"/>
            <a:ext cx="4754880" cy="292608"/>
          </a:xfrm>
          <a:prstGeom prst="rect">
            <a:avLst/>
          </a:prstGeom>
          <a:noFill/>
          <a:ln/>
        </p:spPr>
        <p:txBody>
          <a:bodyPr wrap="square" lIns="0" tIns="0" rIns="0" bIns="0" rtlCol="0" anchor="ctr"/>
          <a:lstStyle/>
          <a:p>
            <a:pPr indent="0" marL="0">
              <a:buNone/>
            </a:pPr>
            <a:r>
              <a:rPr lang="en-US" sz="1400" b="1" dirty="0">
                <a:solidFill>
                  <a:srgbClr val="211C12"/>
                </a:solidFill>
                <a:latin typeface="Calibri" pitchFamily="34" charset="0"/>
                <a:ea typeface="Calibri" pitchFamily="34" charset="-122"/>
                <a:cs typeface="Calibri" pitchFamily="34" charset="-120"/>
              </a:rPr>
              <a:t>Total visibility</a:t>
            </a:r>
            <a:endParaRPr lang="en-US" sz="1400" dirty="0"/>
          </a:p>
        </p:txBody>
      </p:sp>
      <p:sp>
        <p:nvSpPr>
          <p:cNvPr id="11" name="Text 7"/>
          <p:cNvSpPr/>
          <p:nvPr/>
        </p:nvSpPr>
        <p:spPr>
          <a:xfrm>
            <a:off x="1444752" y="2944368"/>
            <a:ext cx="4709160" cy="658368"/>
          </a:xfrm>
          <a:prstGeom prst="rect">
            <a:avLst/>
          </a:prstGeom>
          <a:noFill/>
          <a:ln/>
        </p:spPr>
        <p:txBody>
          <a:bodyPr wrap="square" lIns="0" tIns="0" rIns="0" bIns="0" rtlCol="0" anchor="ctr"/>
          <a:lstStyle/>
          <a:p>
            <a:pPr indent="0" marL="0">
              <a:lnSpc>
                <a:spcPct val="105000"/>
              </a:lnSpc>
              <a:buNone/>
            </a:pPr>
            <a:r>
              <a:rPr lang="en-US" sz="1050" dirty="0">
                <a:solidFill>
                  <a:srgbClr val="6F6757"/>
                </a:solidFill>
                <a:latin typeface="Calibri" pitchFamily="34" charset="0"/>
                <a:ea typeface="Calibri" pitchFamily="34" charset="-122"/>
                <a:cs typeface="Calibri" pitchFamily="34" charset="-120"/>
              </a:rPr>
              <a:t>Every spec, assumption, diff, rationale and failing test is shown before it applies. Uncertainty is flagged, never hidden.</a:t>
            </a:r>
            <a:endParaRPr lang="en-US" sz="1050" dirty="0"/>
          </a:p>
        </p:txBody>
      </p:sp>
      <p:sp>
        <p:nvSpPr>
          <p:cNvPr id="12" name="Shape 8"/>
          <p:cNvSpPr/>
          <p:nvPr/>
        </p:nvSpPr>
        <p:spPr>
          <a:xfrm>
            <a:off x="822960" y="3675888"/>
            <a:ext cx="457200" cy="457200"/>
          </a:xfrm>
          <a:prstGeom prst="ellipse">
            <a:avLst/>
          </a:prstGeom>
          <a:solidFill>
            <a:srgbClr val="EDE8D9"/>
          </a:solidFill>
          <a:ln/>
        </p:spPr>
      </p:sp>
      <p:pic>
        <p:nvPicPr>
          <p:cNvPr id="13" name="Image 2" descr="preencoded.png">    </p:cNvPr>
          <p:cNvPicPr>
            <a:picLocks noChangeAspect="1"/>
          </p:cNvPicPr>
          <p:nvPr/>
        </p:nvPicPr>
        <p:blipFill>
          <a:blip r:embed="rId3"/>
          <a:stretch>
            <a:fillRect/>
          </a:stretch>
        </p:blipFill>
        <p:spPr>
          <a:xfrm>
            <a:off x="937260" y="3790188"/>
            <a:ext cx="228600" cy="228600"/>
          </a:xfrm>
          <a:prstGeom prst="rect">
            <a:avLst/>
          </a:prstGeom>
        </p:spPr>
      </p:pic>
      <p:sp>
        <p:nvSpPr>
          <p:cNvPr id="14" name="Text 9"/>
          <p:cNvSpPr/>
          <p:nvPr/>
        </p:nvSpPr>
        <p:spPr>
          <a:xfrm>
            <a:off x="1444752" y="3621024"/>
            <a:ext cx="4754880" cy="292608"/>
          </a:xfrm>
          <a:prstGeom prst="rect">
            <a:avLst/>
          </a:prstGeom>
          <a:noFill/>
          <a:ln/>
        </p:spPr>
        <p:txBody>
          <a:bodyPr wrap="square" lIns="0" tIns="0" rIns="0" bIns="0" rtlCol="0" anchor="ctr"/>
          <a:lstStyle/>
          <a:p>
            <a:pPr indent="0" marL="0">
              <a:buNone/>
            </a:pPr>
            <a:r>
              <a:rPr lang="en-US" sz="1400" b="1" dirty="0">
                <a:solidFill>
                  <a:srgbClr val="211C12"/>
                </a:solidFill>
                <a:latin typeface="Calibri" pitchFamily="34" charset="0"/>
                <a:ea typeface="Calibri" pitchFamily="34" charset="-122"/>
                <a:cs typeface="Calibri" pitchFamily="34" charset="-120"/>
              </a:rPr>
              <a:t>A hard write boundary</a:t>
            </a:r>
            <a:endParaRPr lang="en-US" sz="1400" dirty="0"/>
          </a:p>
        </p:txBody>
      </p:sp>
      <p:sp>
        <p:nvSpPr>
          <p:cNvPr id="15" name="Text 10"/>
          <p:cNvSpPr/>
          <p:nvPr/>
        </p:nvSpPr>
        <p:spPr>
          <a:xfrm>
            <a:off x="1444752" y="3913632"/>
            <a:ext cx="4709160" cy="658368"/>
          </a:xfrm>
          <a:prstGeom prst="rect">
            <a:avLst/>
          </a:prstGeom>
          <a:noFill/>
          <a:ln/>
        </p:spPr>
        <p:txBody>
          <a:bodyPr wrap="square" lIns="0" tIns="0" rIns="0" bIns="0" rtlCol="0" anchor="ctr"/>
          <a:lstStyle/>
          <a:p>
            <a:pPr indent="0" marL="0">
              <a:lnSpc>
                <a:spcPct val="105000"/>
              </a:lnSpc>
              <a:buNone/>
            </a:pPr>
            <a:r>
              <a:rPr lang="en-US" sz="1050" dirty="0">
                <a:solidFill>
                  <a:srgbClr val="6F6757"/>
                </a:solidFill>
                <a:latin typeface="Calibri" pitchFamily="34" charset="0"/>
                <a:ea typeface="Calibri" pitchFamily="34" charset="-122"/>
                <a:cs typeface="Calibri" pitchFamily="34" charset="-120"/>
              </a:rPr>
              <a:t>Stages 1–4 are read-only. Stages 5–7 write only to a guarded working copy — the guard raises on any other path. Git is never invoked.</a:t>
            </a:r>
            <a:endParaRPr lang="en-US" sz="1050" dirty="0"/>
          </a:p>
        </p:txBody>
      </p:sp>
      <p:sp>
        <p:nvSpPr>
          <p:cNvPr id="16" name="Shape 11"/>
          <p:cNvSpPr/>
          <p:nvPr/>
        </p:nvSpPr>
        <p:spPr>
          <a:xfrm>
            <a:off x="822960" y="4645152"/>
            <a:ext cx="457200" cy="457200"/>
          </a:xfrm>
          <a:prstGeom prst="ellipse">
            <a:avLst/>
          </a:prstGeom>
          <a:solidFill>
            <a:srgbClr val="EDE8D9"/>
          </a:solidFill>
          <a:ln/>
        </p:spPr>
      </p:sp>
      <p:pic>
        <p:nvPicPr>
          <p:cNvPr id="17" name="Image 3" descr="preencoded.png">    </p:cNvPr>
          <p:cNvPicPr>
            <a:picLocks noChangeAspect="1"/>
          </p:cNvPicPr>
          <p:nvPr/>
        </p:nvPicPr>
        <p:blipFill>
          <a:blip r:embed="rId4"/>
          <a:stretch>
            <a:fillRect/>
          </a:stretch>
        </p:blipFill>
        <p:spPr>
          <a:xfrm>
            <a:off x="937260" y="4759452"/>
            <a:ext cx="228600" cy="228600"/>
          </a:xfrm>
          <a:prstGeom prst="rect">
            <a:avLst/>
          </a:prstGeom>
        </p:spPr>
      </p:pic>
      <p:sp>
        <p:nvSpPr>
          <p:cNvPr id="18" name="Text 12"/>
          <p:cNvSpPr/>
          <p:nvPr/>
        </p:nvSpPr>
        <p:spPr>
          <a:xfrm>
            <a:off x="1444752" y="4590288"/>
            <a:ext cx="4754880" cy="292608"/>
          </a:xfrm>
          <a:prstGeom prst="rect">
            <a:avLst/>
          </a:prstGeom>
          <a:noFill/>
          <a:ln/>
        </p:spPr>
        <p:txBody>
          <a:bodyPr wrap="square" lIns="0" tIns="0" rIns="0" bIns="0" rtlCol="0" anchor="ctr"/>
          <a:lstStyle/>
          <a:p>
            <a:pPr indent="0" marL="0">
              <a:buNone/>
            </a:pPr>
            <a:r>
              <a:rPr lang="en-US" sz="1400" b="1" dirty="0">
                <a:solidFill>
                  <a:srgbClr val="211C12"/>
                </a:solidFill>
                <a:latin typeface="Calibri" pitchFamily="34" charset="0"/>
                <a:ea typeface="Calibri" pitchFamily="34" charset="-122"/>
                <a:cs typeface="Calibri" pitchFamily="34" charset="-120"/>
              </a:rPr>
              <a:t>Live integrity proof</a:t>
            </a:r>
            <a:endParaRPr lang="en-US" sz="1400" dirty="0"/>
          </a:p>
        </p:txBody>
      </p:sp>
      <p:sp>
        <p:nvSpPr>
          <p:cNvPr id="19" name="Text 13"/>
          <p:cNvSpPr/>
          <p:nvPr/>
        </p:nvSpPr>
        <p:spPr>
          <a:xfrm>
            <a:off x="1444752" y="4882896"/>
            <a:ext cx="4709160" cy="658368"/>
          </a:xfrm>
          <a:prstGeom prst="rect">
            <a:avLst/>
          </a:prstGeom>
          <a:noFill/>
          <a:ln/>
        </p:spPr>
        <p:txBody>
          <a:bodyPr wrap="square" lIns="0" tIns="0" rIns="0" bIns="0" rtlCol="0" anchor="ctr"/>
          <a:lstStyle/>
          <a:p>
            <a:pPr indent="0" marL="0">
              <a:lnSpc>
                <a:spcPct val="105000"/>
              </a:lnSpc>
              <a:buNone/>
            </a:pPr>
            <a:r>
              <a:rPr lang="en-US" sz="1050" dirty="0">
                <a:solidFill>
                  <a:srgbClr val="6F6757"/>
                </a:solidFill>
                <a:latin typeface="Calibri" pitchFamily="34" charset="0"/>
                <a:ea typeface="Calibri" pitchFamily="34" charset="-122"/>
                <a:cs typeface="Calibri" pitchFamily="34" charset="-120"/>
              </a:rPr>
              <a:t>The original engine’s SHA-256 is fingerprinted at startup and re-verified on screen for the entire session.</a:t>
            </a:r>
            <a:endParaRPr lang="en-US" sz="1050" dirty="0"/>
          </a:p>
        </p:txBody>
      </p:sp>
      <p:pic>
        <p:nvPicPr>
          <p:cNvPr id="20" name="Image 4" descr="docs/change.png">    </p:cNvPr>
          <p:cNvPicPr>
            <a:picLocks noChangeAspect="1"/>
          </p:cNvPicPr>
          <p:nvPr/>
        </p:nvPicPr>
        <p:blipFill>
          <a:blip r:embed="rId5"/>
          <a:stretch>
            <a:fillRect/>
          </a:stretch>
        </p:blipFill>
        <p:spPr>
          <a:xfrm>
            <a:off x="6629400" y="1783080"/>
            <a:ext cx="4709160" cy="2649017"/>
          </a:xfrm>
          <a:prstGeom prst="rect">
            <a:avLst/>
          </a:prstGeom>
          <a:effectLst>
            <a:outerShdw sx="100000" sy="100000" kx="0" ky="0" algn="bl" rotWithShape="0" blurRad="88900" dist="25400" dir="2700000">
              <a:srgbClr val="000000">
                <a:alpha val="14000"/>
              </a:srgbClr>
            </a:outerShdw>
          </a:effectLst>
        </p:spPr>
      </p:pic>
      <p:sp>
        <p:nvSpPr>
          <p:cNvPr id="21" name="Shape 14"/>
          <p:cNvSpPr/>
          <p:nvPr/>
        </p:nvSpPr>
        <p:spPr>
          <a:xfrm>
            <a:off x="6629400" y="1783080"/>
            <a:ext cx="4709160" cy="2649017"/>
          </a:xfrm>
          <a:prstGeom prst="rect">
            <a:avLst/>
          </a:prstGeom>
          <a:ln w="12700">
            <a:solidFill>
              <a:srgbClr val="B3A88E"/>
            </a:solidFill>
            <a:prstDash val="solid"/>
          </a:ln>
        </p:spPr>
      </p:sp>
      <p:sp>
        <p:nvSpPr>
          <p:cNvPr id="22" name="Text 15"/>
          <p:cNvSpPr/>
          <p:nvPr/>
        </p:nvSpPr>
        <p:spPr>
          <a:xfrm>
            <a:off x="6629400" y="4553712"/>
            <a:ext cx="4709160" cy="502920"/>
          </a:xfrm>
          <a:prstGeom prst="rect">
            <a:avLst/>
          </a:prstGeom>
          <a:noFill/>
          <a:ln/>
        </p:spPr>
        <p:txBody>
          <a:bodyPr wrap="square" lIns="0" tIns="0" rIns="0" bIns="0" rtlCol="0" anchor="ctr"/>
          <a:lstStyle/>
          <a:p>
            <a:pPr indent="0" marL="0">
              <a:buNone/>
            </a:pPr>
            <a:r>
              <a:rPr lang="en-US" sz="1050" i="1" dirty="0">
                <a:solidFill>
                  <a:srgbClr val="6F6757"/>
                </a:solidFill>
                <a:latin typeface="Calibri" pitchFamily="34" charset="0"/>
                <a:ea typeface="Calibri" pitchFamily="34" charset="-122"/>
                <a:cs typeface="Calibri" pitchFamily="34" charset="-120"/>
              </a:rPr>
              <a:t>Stage 7 in the product: the generated diff, its rationale, and the generated tests — reviewed before anything is accepted.</a:t>
            </a:r>
            <a:endParaRPr lang="en-US" sz="1050" dirty="0"/>
          </a:p>
        </p:txBody>
      </p:sp>
      <p:sp>
        <p:nvSpPr>
          <p:cNvPr id="23" name="Shape 16"/>
          <p:cNvSpPr/>
          <p:nvPr/>
        </p:nvSpPr>
        <p:spPr>
          <a:xfrm>
            <a:off x="822960" y="5870448"/>
            <a:ext cx="10515600" cy="658368"/>
          </a:xfrm>
          <a:prstGeom prst="rect">
            <a:avLst/>
          </a:prstGeom>
          <a:solidFill>
            <a:srgbClr val="EDE8D9"/>
          </a:solidFill>
          <a:ln/>
        </p:spPr>
      </p:sp>
      <p:sp>
        <p:nvSpPr>
          <p:cNvPr id="24" name="Text 17"/>
          <p:cNvSpPr/>
          <p:nvPr/>
        </p:nvSpPr>
        <p:spPr>
          <a:xfrm>
            <a:off x="1051560" y="5980176"/>
            <a:ext cx="10058400" cy="457200"/>
          </a:xfrm>
          <a:prstGeom prst="rect">
            <a:avLst/>
          </a:prstGeom>
          <a:noFill/>
          <a:ln/>
        </p:spPr>
        <p:txBody>
          <a:bodyPr wrap="square" lIns="0" tIns="0" rIns="0" bIns="0" rtlCol="0" anchor="ctr"/>
          <a:lstStyle/>
          <a:p>
            <a:pPr indent="0" marL="0">
              <a:buNone/>
            </a:pPr>
            <a:r>
              <a:rPr lang="en-US" sz="1350" i="1" dirty="0">
                <a:solidFill>
                  <a:srgbClr val="211C12"/>
                </a:solidFill>
                <a:latin typeface="Century Schoolbook" pitchFamily="34" charset="0"/>
                <a:ea typeface="Century Schoolbook" pitchFamily="34" charset="-122"/>
                <a:cs typeface="Century Schoolbook" pitchFamily="34" charset="-120"/>
              </a:rPr>
              <a:t>“A fully autonomous agent is a non-starter in an enterprise.”  RuleLift cannot act alone — by construction, not by policy.</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1C12"/>
        </a:solidFill>
      </p:bgPr>
    </p:bg>
    <p:spTree>
      <p:nvGrpSpPr>
        <p:cNvPr id="1" name=""/>
        <p:cNvGrpSpPr/>
        <p:nvPr/>
      </p:nvGrpSpPr>
      <p:grpSpPr>
        <a:xfrm>
          <a:off x="0" y="0"/>
          <a:ext cx="0" cy="0"/>
          <a:chOff x="0" y="0"/>
          <a:chExt cx="0" cy="0"/>
        </a:xfrm>
      </p:grpSpPr>
      <p:sp>
        <p:nvSpPr>
          <p:cNvPr id="2" name="Text 0"/>
          <p:cNvSpPr/>
          <p:nvPr/>
        </p:nvSpPr>
        <p:spPr>
          <a:xfrm>
            <a:off x="868680" y="502920"/>
            <a:ext cx="7315200" cy="274320"/>
          </a:xfrm>
          <a:prstGeom prst="rect">
            <a:avLst/>
          </a:prstGeom>
          <a:noFill/>
          <a:ln/>
        </p:spPr>
        <p:txBody>
          <a:bodyPr wrap="square" lIns="0" tIns="0" rIns="0" bIns="0" rtlCol="0" anchor="ctr"/>
          <a:lstStyle/>
          <a:p>
            <a:pPr indent="0" marL="0">
              <a:buNone/>
            </a:pPr>
            <a:r>
              <a:rPr lang="en-US" sz="1100" spc="300" kern="0" dirty="0">
                <a:solidFill>
                  <a:srgbClr val="C96F4A"/>
                </a:solidFill>
                <a:latin typeface="Courier New" pitchFamily="34" charset="0"/>
                <a:ea typeface="Courier New" pitchFamily="34" charset="-122"/>
                <a:cs typeface="Courier New" pitchFamily="34" charset="-120"/>
              </a:rPr>
              <a:t>THE 90-SECOND DEMO</a:t>
            </a:r>
            <a:endParaRPr lang="en-US" sz="1100" dirty="0"/>
          </a:p>
        </p:txBody>
      </p:sp>
      <p:sp>
        <p:nvSpPr>
          <p:cNvPr id="3" name="Text 1"/>
          <p:cNvSpPr/>
          <p:nvPr/>
        </p:nvSpPr>
        <p:spPr>
          <a:xfrm>
            <a:off x="868680" y="822960"/>
            <a:ext cx="10515600" cy="685800"/>
          </a:xfrm>
          <a:prstGeom prst="rect">
            <a:avLst/>
          </a:prstGeom>
          <a:noFill/>
          <a:ln/>
        </p:spPr>
        <p:txBody>
          <a:bodyPr wrap="square" lIns="0" tIns="0" rIns="0" bIns="0" rtlCol="0" anchor="ctr"/>
          <a:lstStyle/>
          <a:p>
            <a:pPr indent="0" marL="0">
              <a:buNone/>
            </a:pPr>
            <a:r>
              <a:rPr lang="en-US" sz="2900" b="1" dirty="0">
                <a:solidFill>
                  <a:srgbClr val="F4F1E7"/>
                </a:solidFill>
                <a:latin typeface="Century Schoolbook" pitchFamily="34" charset="0"/>
                <a:ea typeface="Century Schoolbook" pitchFamily="34" charset="-122"/>
                <a:cs typeface="Century Schoolbook" pitchFamily="34" charset="-120"/>
              </a:rPr>
              <a:t>Before: a black box. </a:t>
            </a:r>
            <a:pPr indent="0" marL="0">
              <a:buNone/>
            </a:pPr>
            <a:r>
              <a:rPr lang="en-US" sz="2900" b="1" i="1" dirty="0">
                <a:solidFill>
                  <a:srgbClr val="C96F4A"/>
                </a:solidFill>
                <a:latin typeface="Century Schoolbook" pitchFamily="34" charset="0"/>
                <a:ea typeface="Century Schoolbook" pitchFamily="34" charset="-122"/>
                <a:cs typeface="Century Schoolbook" pitchFamily="34" charset="-120"/>
              </a:rPr>
              <a:t>After: a proven, tested change.</a:t>
            </a:r>
            <a:endParaRPr lang="en-US" sz="2900" dirty="0"/>
          </a:p>
        </p:txBody>
      </p:sp>
      <p:sp>
        <p:nvSpPr>
          <p:cNvPr id="4" name="Text 2"/>
          <p:cNvSpPr/>
          <p:nvPr/>
        </p:nvSpPr>
        <p:spPr>
          <a:xfrm>
            <a:off x="868680" y="1874520"/>
            <a:ext cx="548640" cy="457200"/>
          </a:xfrm>
          <a:prstGeom prst="rect">
            <a:avLst/>
          </a:prstGeom>
          <a:noFill/>
          <a:ln/>
        </p:spPr>
        <p:txBody>
          <a:bodyPr wrap="square" lIns="0" tIns="0" rIns="0" bIns="0" rtlCol="0" anchor="ctr"/>
          <a:lstStyle/>
          <a:p>
            <a:pPr indent="0" marL="0">
              <a:buNone/>
            </a:pPr>
            <a:r>
              <a:rPr lang="en-US" sz="2000" b="1" dirty="0">
                <a:solidFill>
                  <a:srgbClr val="C96F4A"/>
                </a:solidFill>
                <a:latin typeface="Courier New" pitchFamily="34" charset="0"/>
                <a:ea typeface="Courier New" pitchFamily="34" charset="-122"/>
                <a:cs typeface="Courier New" pitchFamily="34" charset="-120"/>
              </a:rPr>
              <a:t>01</a:t>
            </a:r>
            <a:endParaRPr lang="en-US" sz="2000" dirty="0"/>
          </a:p>
        </p:txBody>
      </p:sp>
      <p:sp>
        <p:nvSpPr>
          <p:cNvPr id="5" name="Text 3"/>
          <p:cNvSpPr/>
          <p:nvPr/>
        </p:nvSpPr>
        <p:spPr>
          <a:xfrm>
            <a:off x="1527048" y="1856232"/>
            <a:ext cx="4480560" cy="310896"/>
          </a:xfrm>
          <a:prstGeom prst="rect">
            <a:avLst/>
          </a:prstGeom>
          <a:noFill/>
          <a:ln/>
        </p:spPr>
        <p:txBody>
          <a:bodyPr wrap="square" lIns="0" tIns="0" rIns="0" bIns="0" rtlCol="0" anchor="ctr"/>
          <a:lstStyle/>
          <a:p>
            <a:pPr indent="0" marL="0">
              <a:buNone/>
            </a:pPr>
            <a:r>
              <a:rPr lang="en-US" sz="1600" b="1" dirty="0">
                <a:solidFill>
                  <a:srgbClr val="F4F1E7"/>
                </a:solidFill>
                <a:latin typeface="Century Schoolbook" pitchFamily="34" charset="0"/>
                <a:ea typeface="Century Schoolbook" pitchFamily="34" charset="-122"/>
                <a:cs typeface="Century Schoolbook" pitchFamily="34" charset="-120"/>
              </a:rPr>
              <a:t>Ingest</a:t>
            </a:r>
            <a:endParaRPr lang="en-US" sz="1600" dirty="0"/>
          </a:p>
        </p:txBody>
      </p:sp>
      <p:sp>
        <p:nvSpPr>
          <p:cNvPr id="6" name="Text 4"/>
          <p:cNvSpPr/>
          <p:nvPr/>
        </p:nvSpPr>
        <p:spPr>
          <a:xfrm>
            <a:off x="1527048" y="2185416"/>
            <a:ext cx="4572000" cy="822960"/>
          </a:xfrm>
          <a:prstGeom prst="rect">
            <a:avLst/>
          </a:prstGeom>
          <a:noFill/>
          <a:ln/>
        </p:spPr>
        <p:txBody>
          <a:bodyPr wrap="square" lIns="0" tIns="0" rIns="0" bIns="0" rtlCol="0" anchor="ctr"/>
          <a:lstStyle/>
          <a:p>
            <a:pPr indent="0" marL="0">
              <a:lnSpc>
                <a:spcPct val="108000"/>
              </a:lnSpc>
              <a:buNone/>
            </a:pPr>
            <a:r>
              <a:rPr lang="en-US" sz="1100" dirty="0">
                <a:solidFill>
                  <a:srgbClr val="C9C2B2"/>
                </a:solidFill>
                <a:latin typeface="Calibri" pitchFamily="34" charset="0"/>
                <a:ea typeface="Calibri" pitchFamily="34" charset="-122"/>
                <a:cs typeface="Calibri" pitchFamily="34" charset="-120"/>
              </a:rPr>
              <a:t>22,000 real UK transactions load; messy rows triaged with reasons, on screen.</a:t>
            </a:r>
            <a:endParaRPr lang="en-US" sz="1100" dirty="0"/>
          </a:p>
        </p:txBody>
      </p:sp>
      <p:sp>
        <p:nvSpPr>
          <p:cNvPr id="7" name="Text 5"/>
          <p:cNvSpPr/>
          <p:nvPr/>
        </p:nvSpPr>
        <p:spPr>
          <a:xfrm>
            <a:off x="6309360" y="1874520"/>
            <a:ext cx="548640" cy="457200"/>
          </a:xfrm>
          <a:prstGeom prst="rect">
            <a:avLst/>
          </a:prstGeom>
          <a:noFill/>
          <a:ln/>
        </p:spPr>
        <p:txBody>
          <a:bodyPr wrap="square" lIns="0" tIns="0" rIns="0" bIns="0" rtlCol="0" anchor="ctr"/>
          <a:lstStyle/>
          <a:p>
            <a:pPr indent="0" marL="0">
              <a:buNone/>
            </a:pPr>
            <a:r>
              <a:rPr lang="en-US" sz="2000" b="1" dirty="0">
                <a:solidFill>
                  <a:srgbClr val="C96F4A"/>
                </a:solidFill>
                <a:latin typeface="Courier New" pitchFamily="34" charset="0"/>
                <a:ea typeface="Courier New" pitchFamily="34" charset="-122"/>
                <a:cs typeface="Courier New" pitchFamily="34" charset="-120"/>
              </a:rPr>
              <a:t>02</a:t>
            </a:r>
            <a:endParaRPr lang="en-US" sz="2000" dirty="0"/>
          </a:p>
        </p:txBody>
      </p:sp>
      <p:sp>
        <p:nvSpPr>
          <p:cNvPr id="8" name="Text 6"/>
          <p:cNvSpPr/>
          <p:nvPr/>
        </p:nvSpPr>
        <p:spPr>
          <a:xfrm>
            <a:off x="6967728" y="1856232"/>
            <a:ext cx="4480560" cy="310896"/>
          </a:xfrm>
          <a:prstGeom prst="rect">
            <a:avLst/>
          </a:prstGeom>
          <a:noFill/>
          <a:ln/>
        </p:spPr>
        <p:txBody>
          <a:bodyPr wrap="square" lIns="0" tIns="0" rIns="0" bIns="0" rtlCol="0" anchor="ctr"/>
          <a:lstStyle/>
          <a:p>
            <a:pPr indent="0" marL="0">
              <a:buNone/>
            </a:pPr>
            <a:r>
              <a:rPr lang="en-US" sz="1600" b="1" dirty="0">
                <a:solidFill>
                  <a:srgbClr val="F4F1E7"/>
                </a:solidFill>
                <a:latin typeface="Century Schoolbook" pitchFamily="34" charset="0"/>
                <a:ea typeface="Century Schoolbook" pitchFamily="34" charset="-122"/>
                <a:cs typeface="Century Schoolbook" pitchFamily="34" charset="-120"/>
              </a:rPr>
              <a:t>Extract</a:t>
            </a:r>
            <a:endParaRPr lang="en-US" sz="1600" dirty="0"/>
          </a:p>
        </p:txBody>
      </p:sp>
      <p:sp>
        <p:nvSpPr>
          <p:cNvPr id="9" name="Text 7"/>
          <p:cNvSpPr/>
          <p:nvPr/>
        </p:nvSpPr>
        <p:spPr>
          <a:xfrm>
            <a:off x="6967728" y="2185416"/>
            <a:ext cx="4572000" cy="822960"/>
          </a:xfrm>
          <a:prstGeom prst="rect">
            <a:avLst/>
          </a:prstGeom>
          <a:noFill/>
          <a:ln/>
        </p:spPr>
        <p:txBody>
          <a:bodyPr wrap="square" lIns="0" tIns="0" rIns="0" bIns="0" rtlCol="0" anchor="ctr"/>
          <a:lstStyle/>
          <a:p>
            <a:pPr indent="0" marL="0">
              <a:lnSpc>
                <a:spcPct val="108000"/>
              </a:lnSpc>
              <a:buNone/>
            </a:pPr>
            <a:r>
              <a:rPr lang="en-US" sz="1100" dirty="0">
                <a:solidFill>
                  <a:srgbClr val="C9C2B2"/>
                </a:solidFill>
                <a:latin typeface="Calibri" pitchFamily="34" charset="0"/>
                <a:ea typeface="Calibri" pitchFamily="34" charset="-122"/>
                <a:cs typeface="Calibri" pitchFamily="34" charset="-120"/>
              </a:rPr>
              <a:t>The buried rule appears in plain English, beside the crusty source and the model's honest assumptions.</a:t>
            </a:r>
            <a:endParaRPr lang="en-US" sz="1100" dirty="0"/>
          </a:p>
        </p:txBody>
      </p:sp>
      <p:sp>
        <p:nvSpPr>
          <p:cNvPr id="10" name="Text 8"/>
          <p:cNvSpPr/>
          <p:nvPr/>
        </p:nvSpPr>
        <p:spPr>
          <a:xfrm>
            <a:off x="868680" y="3136392"/>
            <a:ext cx="548640" cy="457200"/>
          </a:xfrm>
          <a:prstGeom prst="rect">
            <a:avLst/>
          </a:prstGeom>
          <a:noFill/>
          <a:ln/>
        </p:spPr>
        <p:txBody>
          <a:bodyPr wrap="square" lIns="0" tIns="0" rIns="0" bIns="0" rtlCol="0" anchor="ctr"/>
          <a:lstStyle/>
          <a:p>
            <a:pPr indent="0" marL="0">
              <a:buNone/>
            </a:pPr>
            <a:r>
              <a:rPr lang="en-US" sz="2000" b="1" dirty="0">
                <a:solidFill>
                  <a:srgbClr val="C96F4A"/>
                </a:solidFill>
                <a:latin typeface="Courier New" pitchFamily="34" charset="0"/>
                <a:ea typeface="Courier New" pitchFamily="34" charset="-122"/>
                <a:cs typeface="Courier New" pitchFamily="34" charset="-120"/>
              </a:rPr>
              <a:t>03</a:t>
            </a:r>
            <a:endParaRPr lang="en-US" sz="2000" dirty="0"/>
          </a:p>
        </p:txBody>
      </p:sp>
      <p:sp>
        <p:nvSpPr>
          <p:cNvPr id="11" name="Text 9"/>
          <p:cNvSpPr/>
          <p:nvPr/>
        </p:nvSpPr>
        <p:spPr>
          <a:xfrm>
            <a:off x="1527048" y="3118104"/>
            <a:ext cx="4480560" cy="310896"/>
          </a:xfrm>
          <a:prstGeom prst="rect">
            <a:avLst/>
          </a:prstGeom>
          <a:noFill/>
          <a:ln/>
        </p:spPr>
        <p:txBody>
          <a:bodyPr wrap="square" lIns="0" tIns="0" rIns="0" bIns="0" rtlCol="0" anchor="ctr"/>
          <a:lstStyle/>
          <a:p>
            <a:pPr indent="0" marL="0">
              <a:buNone/>
            </a:pPr>
            <a:r>
              <a:rPr lang="en-US" sz="1600" b="1" dirty="0">
                <a:solidFill>
                  <a:srgbClr val="F4F1E7"/>
                </a:solidFill>
                <a:latin typeface="Century Schoolbook" pitchFamily="34" charset="0"/>
                <a:ea typeface="Century Schoolbook" pitchFamily="34" charset="-122"/>
                <a:cs typeface="Century Schoolbook" pitchFamily="34" charset="-120"/>
              </a:rPr>
              <a:t>Prove</a:t>
            </a:r>
            <a:endParaRPr lang="en-US" sz="1600" dirty="0"/>
          </a:p>
        </p:txBody>
      </p:sp>
      <p:sp>
        <p:nvSpPr>
          <p:cNvPr id="12" name="Text 10"/>
          <p:cNvSpPr/>
          <p:nvPr/>
        </p:nvSpPr>
        <p:spPr>
          <a:xfrm>
            <a:off x="1527048" y="3447288"/>
            <a:ext cx="4572000" cy="822960"/>
          </a:xfrm>
          <a:prstGeom prst="rect">
            <a:avLst/>
          </a:prstGeom>
          <a:noFill/>
          <a:ln/>
        </p:spPr>
        <p:txBody>
          <a:bodyPr wrap="square" lIns="0" tIns="0" rIns="0" bIns="0" rtlCol="0" anchor="ctr"/>
          <a:lstStyle/>
          <a:p>
            <a:pPr indent="0" marL="0">
              <a:lnSpc>
                <a:spcPct val="108000"/>
              </a:lnSpc>
              <a:buNone/>
            </a:pPr>
            <a:r>
              <a:rPr lang="en-US" sz="1100" dirty="0">
                <a:solidFill>
                  <a:srgbClr val="C9C2B2"/>
                </a:solidFill>
                <a:latin typeface="Calibri" pitchFamily="34" charset="0"/>
                <a:ea typeface="Calibri" pitchFamily="34" charset="-122"/>
                <a:cs typeface="Calibri" pitchFamily="34" charset="-120"/>
              </a:rPr>
              <a:t>100.00% fidelity — and a £35.2M drift against the statute book the app was never told about.</a:t>
            </a:r>
            <a:endParaRPr lang="en-US" sz="1100" dirty="0"/>
          </a:p>
        </p:txBody>
      </p:sp>
      <p:sp>
        <p:nvSpPr>
          <p:cNvPr id="13" name="Text 11"/>
          <p:cNvSpPr/>
          <p:nvPr/>
        </p:nvSpPr>
        <p:spPr>
          <a:xfrm>
            <a:off x="6309360" y="3136392"/>
            <a:ext cx="548640" cy="457200"/>
          </a:xfrm>
          <a:prstGeom prst="rect">
            <a:avLst/>
          </a:prstGeom>
          <a:noFill/>
          <a:ln/>
        </p:spPr>
        <p:txBody>
          <a:bodyPr wrap="square" lIns="0" tIns="0" rIns="0" bIns="0" rtlCol="0" anchor="ctr"/>
          <a:lstStyle/>
          <a:p>
            <a:pPr indent="0" marL="0">
              <a:buNone/>
            </a:pPr>
            <a:r>
              <a:rPr lang="en-US" sz="2000" b="1" dirty="0">
                <a:solidFill>
                  <a:srgbClr val="C96F4A"/>
                </a:solidFill>
                <a:latin typeface="Courier New" pitchFamily="34" charset="0"/>
                <a:ea typeface="Courier New" pitchFamily="34" charset="-122"/>
                <a:cs typeface="Courier New" pitchFamily="34" charset="-120"/>
              </a:rPr>
              <a:t>04</a:t>
            </a:r>
            <a:endParaRPr lang="en-US" sz="2000" dirty="0"/>
          </a:p>
        </p:txBody>
      </p:sp>
      <p:sp>
        <p:nvSpPr>
          <p:cNvPr id="14" name="Text 12"/>
          <p:cNvSpPr/>
          <p:nvPr/>
        </p:nvSpPr>
        <p:spPr>
          <a:xfrm>
            <a:off x="6967728" y="3118104"/>
            <a:ext cx="4480560" cy="310896"/>
          </a:xfrm>
          <a:prstGeom prst="rect">
            <a:avLst/>
          </a:prstGeom>
          <a:noFill/>
          <a:ln/>
        </p:spPr>
        <p:txBody>
          <a:bodyPr wrap="square" lIns="0" tIns="0" rIns="0" bIns="0" rtlCol="0" anchor="ctr"/>
          <a:lstStyle/>
          <a:p>
            <a:pPr indent="0" marL="0">
              <a:buNone/>
            </a:pPr>
            <a:r>
              <a:rPr lang="en-US" sz="1600" b="1" dirty="0">
                <a:solidFill>
                  <a:srgbClr val="F4F1E7"/>
                </a:solidFill>
                <a:latin typeface="Century Schoolbook" pitchFamily="34" charset="0"/>
                <a:ea typeface="Century Schoolbook" pitchFamily="34" charset="-122"/>
                <a:cs typeface="Century Schoolbook" pitchFamily="34" charset="-120"/>
              </a:rPr>
              <a:t>Edit</a:t>
            </a:r>
            <a:endParaRPr lang="en-US" sz="1600" dirty="0"/>
          </a:p>
        </p:txBody>
      </p:sp>
      <p:sp>
        <p:nvSpPr>
          <p:cNvPr id="15" name="Text 13"/>
          <p:cNvSpPr/>
          <p:nvPr/>
        </p:nvSpPr>
        <p:spPr>
          <a:xfrm>
            <a:off x="6967728" y="3447288"/>
            <a:ext cx="4572000" cy="822960"/>
          </a:xfrm>
          <a:prstGeom prst="rect">
            <a:avLst/>
          </a:prstGeom>
          <a:noFill/>
          <a:ln/>
        </p:spPr>
        <p:txBody>
          <a:bodyPr wrap="square" lIns="0" tIns="0" rIns="0" bIns="0" rtlCol="0" anchor="ctr"/>
          <a:lstStyle/>
          <a:p>
            <a:pPr indent="0" marL="0">
              <a:lnSpc>
                <a:spcPct val="108000"/>
              </a:lnSpc>
              <a:buNone/>
            </a:pPr>
            <a:r>
              <a:rPr lang="en-US" sz="1100" dirty="0">
                <a:solidFill>
                  <a:srgbClr val="C9C2B2"/>
                </a:solidFill>
                <a:latin typeface="Calibri" pitchFamily="34" charset="0"/>
                <a:ea typeface="Calibri" pitchFamily="34" charset="-122"/>
                <a:cs typeface="Calibri" pitchFamily="34" charset="-120"/>
              </a:rPr>
              <a:t>One sentence: “raise the nil-rate threshold to £300,000.” Parsed, previewed, approved.</a:t>
            </a:r>
            <a:endParaRPr lang="en-US" sz="1100" dirty="0"/>
          </a:p>
        </p:txBody>
      </p:sp>
      <p:sp>
        <p:nvSpPr>
          <p:cNvPr id="16" name="Text 14"/>
          <p:cNvSpPr/>
          <p:nvPr/>
        </p:nvSpPr>
        <p:spPr>
          <a:xfrm>
            <a:off x="868680" y="4398264"/>
            <a:ext cx="548640" cy="457200"/>
          </a:xfrm>
          <a:prstGeom prst="rect">
            <a:avLst/>
          </a:prstGeom>
          <a:noFill/>
          <a:ln/>
        </p:spPr>
        <p:txBody>
          <a:bodyPr wrap="square" lIns="0" tIns="0" rIns="0" bIns="0" rtlCol="0" anchor="ctr"/>
          <a:lstStyle/>
          <a:p>
            <a:pPr indent="0" marL="0">
              <a:buNone/>
            </a:pPr>
            <a:r>
              <a:rPr lang="en-US" sz="2000" b="1" dirty="0">
                <a:solidFill>
                  <a:srgbClr val="C96F4A"/>
                </a:solidFill>
                <a:latin typeface="Courier New" pitchFamily="34" charset="0"/>
                <a:ea typeface="Courier New" pitchFamily="34" charset="-122"/>
                <a:cs typeface="Courier New" pitchFamily="34" charset="-120"/>
              </a:rPr>
              <a:t>05</a:t>
            </a:r>
            <a:endParaRPr lang="en-US" sz="2000" dirty="0"/>
          </a:p>
        </p:txBody>
      </p:sp>
      <p:sp>
        <p:nvSpPr>
          <p:cNvPr id="17" name="Text 15"/>
          <p:cNvSpPr/>
          <p:nvPr/>
        </p:nvSpPr>
        <p:spPr>
          <a:xfrm>
            <a:off x="1527048" y="4379976"/>
            <a:ext cx="4480560" cy="310896"/>
          </a:xfrm>
          <a:prstGeom prst="rect">
            <a:avLst/>
          </a:prstGeom>
          <a:noFill/>
          <a:ln/>
        </p:spPr>
        <p:txBody>
          <a:bodyPr wrap="square" lIns="0" tIns="0" rIns="0" bIns="0" rtlCol="0" anchor="ctr"/>
          <a:lstStyle/>
          <a:p>
            <a:pPr indent="0" marL="0">
              <a:buNone/>
            </a:pPr>
            <a:r>
              <a:rPr lang="en-US" sz="1600" b="1" dirty="0">
                <a:solidFill>
                  <a:srgbClr val="F4F1E7"/>
                </a:solidFill>
                <a:latin typeface="Century Schoolbook" pitchFamily="34" charset="0"/>
                <a:ea typeface="Century Schoolbook" pitchFamily="34" charset="-122"/>
                <a:cs typeface="Century Schoolbook" pitchFamily="34" charset="-120"/>
              </a:rPr>
              <a:t>Impact</a:t>
            </a:r>
            <a:endParaRPr lang="en-US" sz="1600" dirty="0"/>
          </a:p>
        </p:txBody>
      </p:sp>
      <p:sp>
        <p:nvSpPr>
          <p:cNvPr id="18" name="Text 16"/>
          <p:cNvSpPr/>
          <p:nvPr/>
        </p:nvSpPr>
        <p:spPr>
          <a:xfrm>
            <a:off x="1527048" y="4709160"/>
            <a:ext cx="4572000" cy="822960"/>
          </a:xfrm>
          <a:prstGeom prst="rect">
            <a:avLst/>
          </a:prstGeom>
          <a:noFill/>
          <a:ln/>
        </p:spPr>
        <p:txBody>
          <a:bodyPr wrap="square" lIns="0" tIns="0" rIns="0" bIns="0" rtlCol="0" anchor="ctr"/>
          <a:lstStyle/>
          <a:p>
            <a:pPr indent="0" marL="0">
              <a:lnSpc>
                <a:spcPct val="108000"/>
              </a:lnSpc>
              <a:buNone/>
            </a:pPr>
            <a:r>
              <a:rPr lang="en-US" sz="1100" dirty="0">
                <a:solidFill>
                  <a:srgbClr val="C9C2B2"/>
                </a:solidFill>
                <a:latin typeface="Calibri" pitchFamily="34" charset="0"/>
                <a:ea typeface="Calibri" pitchFamily="34" charset="-122"/>
                <a:cs typeface="Calibri" pitchFamily="34" charset="-120"/>
              </a:rPr>
              <a:t>10,438 records repriced, £23.7M — distribution and winners, computed live.</a:t>
            </a:r>
            <a:endParaRPr lang="en-US" sz="1100" dirty="0"/>
          </a:p>
        </p:txBody>
      </p:sp>
      <p:sp>
        <p:nvSpPr>
          <p:cNvPr id="19" name="Text 17"/>
          <p:cNvSpPr/>
          <p:nvPr/>
        </p:nvSpPr>
        <p:spPr>
          <a:xfrm>
            <a:off x="6309360" y="4398264"/>
            <a:ext cx="548640" cy="457200"/>
          </a:xfrm>
          <a:prstGeom prst="rect">
            <a:avLst/>
          </a:prstGeom>
          <a:noFill/>
          <a:ln/>
        </p:spPr>
        <p:txBody>
          <a:bodyPr wrap="square" lIns="0" tIns="0" rIns="0" bIns="0" rtlCol="0" anchor="ctr"/>
          <a:lstStyle/>
          <a:p>
            <a:pPr indent="0" marL="0">
              <a:buNone/>
            </a:pPr>
            <a:r>
              <a:rPr lang="en-US" sz="2000" b="1" dirty="0">
                <a:solidFill>
                  <a:srgbClr val="C96F4A"/>
                </a:solidFill>
                <a:latin typeface="Courier New" pitchFamily="34" charset="0"/>
                <a:ea typeface="Courier New" pitchFamily="34" charset="-122"/>
                <a:cs typeface="Courier New" pitchFamily="34" charset="-120"/>
              </a:rPr>
              <a:t>06</a:t>
            </a:r>
            <a:endParaRPr lang="en-US" sz="2000" dirty="0"/>
          </a:p>
        </p:txBody>
      </p:sp>
      <p:sp>
        <p:nvSpPr>
          <p:cNvPr id="20" name="Text 18"/>
          <p:cNvSpPr/>
          <p:nvPr/>
        </p:nvSpPr>
        <p:spPr>
          <a:xfrm>
            <a:off x="6967728" y="4379976"/>
            <a:ext cx="4480560" cy="310896"/>
          </a:xfrm>
          <a:prstGeom prst="rect">
            <a:avLst/>
          </a:prstGeom>
          <a:noFill/>
          <a:ln/>
        </p:spPr>
        <p:txBody>
          <a:bodyPr wrap="square" lIns="0" tIns="0" rIns="0" bIns="0" rtlCol="0" anchor="ctr"/>
          <a:lstStyle/>
          <a:p>
            <a:pPr indent="0" marL="0">
              <a:buNone/>
            </a:pPr>
            <a:r>
              <a:rPr lang="en-US" sz="1600" b="1" dirty="0">
                <a:solidFill>
                  <a:srgbClr val="F4F1E7"/>
                </a:solidFill>
                <a:latin typeface="Century Schoolbook" pitchFamily="34" charset="0"/>
                <a:ea typeface="Century Schoolbook" pitchFamily="34" charset="-122"/>
                <a:cs typeface="Century Schoolbook" pitchFamily="34" charset="-120"/>
              </a:rPr>
              <a:t>Verify</a:t>
            </a:r>
            <a:endParaRPr lang="en-US" sz="1600" dirty="0"/>
          </a:p>
        </p:txBody>
      </p:sp>
      <p:sp>
        <p:nvSpPr>
          <p:cNvPr id="21" name="Text 19"/>
          <p:cNvSpPr/>
          <p:nvPr/>
        </p:nvSpPr>
        <p:spPr>
          <a:xfrm>
            <a:off x="6967728" y="4709160"/>
            <a:ext cx="4572000" cy="822960"/>
          </a:xfrm>
          <a:prstGeom prst="rect">
            <a:avLst/>
          </a:prstGeom>
          <a:noFill/>
          <a:ln/>
        </p:spPr>
        <p:txBody>
          <a:bodyPr wrap="square" lIns="0" tIns="0" rIns="0" bIns="0" rtlCol="0" anchor="ctr"/>
          <a:lstStyle/>
          <a:p>
            <a:pPr indent="0" marL="0">
              <a:lnSpc>
                <a:spcPct val="108000"/>
              </a:lnSpc>
              <a:buNone/>
            </a:pPr>
            <a:r>
              <a:rPr lang="en-US" sz="1100" dirty="0">
                <a:solidFill>
                  <a:srgbClr val="C9C2B2"/>
                </a:solidFill>
                <a:latin typeface="Calibri" pitchFamily="34" charset="0"/>
                <a:ea typeface="Calibri" pitchFamily="34" charset="-122"/>
                <a:cs typeface="Calibri" pitchFamily="34" charset="-120"/>
              </a:rPr>
              <a:t>Unified diff on a guarded copy; 71 generated golden tests go green. Original file: untouched.</a:t>
            </a:r>
            <a:endParaRPr lang="en-US" sz="1100" dirty="0"/>
          </a:p>
        </p:txBody>
      </p:sp>
      <p:sp>
        <p:nvSpPr>
          <p:cNvPr id="22" name="Shape 20"/>
          <p:cNvSpPr/>
          <p:nvPr/>
        </p:nvSpPr>
        <p:spPr>
          <a:xfrm>
            <a:off x="868680" y="5806440"/>
            <a:ext cx="10424160" cy="0"/>
          </a:xfrm>
          <a:prstGeom prst="line">
            <a:avLst/>
          </a:prstGeom>
          <a:noFill/>
          <a:ln w="12700">
            <a:solidFill>
              <a:srgbClr val="4A443A"/>
            </a:solidFill>
            <a:prstDash val="solid"/>
          </a:ln>
        </p:spPr>
      </p:sp>
      <p:sp>
        <p:nvSpPr>
          <p:cNvPr id="23" name="Text 21"/>
          <p:cNvSpPr/>
          <p:nvPr/>
        </p:nvSpPr>
        <p:spPr>
          <a:xfrm>
            <a:off x="868680" y="5989320"/>
            <a:ext cx="9326880" cy="320040"/>
          </a:xfrm>
          <a:prstGeom prst="rect">
            <a:avLst/>
          </a:prstGeom>
          <a:noFill/>
          <a:ln/>
        </p:spPr>
        <p:txBody>
          <a:bodyPr wrap="square" lIns="0" tIns="0" rIns="0" bIns="0" rtlCol="0" anchor="ctr"/>
          <a:lstStyle/>
          <a:p>
            <a:pPr indent="0" marL="0">
              <a:buNone/>
            </a:pPr>
            <a:r>
              <a:rPr lang="en-US" sz="1100" dirty="0">
                <a:solidFill>
                  <a:srgbClr val="C9C2B2"/>
                </a:solidFill>
                <a:latin typeface="Courier New" pitchFamily="34" charset="0"/>
                <a:ea typeface="Courier New" pitchFamily="34" charset="-122"/>
                <a:cs typeface="Courier New" pitchFamily="34" charset="-120"/>
              </a:rPr>
              <a:t>github.com/sambitsargam/rulelift     ·     make demo     ·     every number recomputed live — nothing asserted</a:t>
            </a:r>
            <a:endParaRPr lang="en-US" sz="1100" dirty="0"/>
          </a:p>
        </p:txBody>
      </p:sp>
      <p:sp>
        <p:nvSpPr>
          <p:cNvPr id="24" name="Shape 22"/>
          <p:cNvSpPr/>
          <p:nvPr/>
        </p:nvSpPr>
        <p:spPr>
          <a:xfrm>
            <a:off x="10972800" y="5870448"/>
            <a:ext cx="566928" cy="566928"/>
          </a:xfrm>
          <a:prstGeom prst="roundRect">
            <a:avLst>
              <a:gd name="adj" fmla="val 9000"/>
            </a:avLst>
          </a:prstGeom>
          <a:solidFill>
            <a:srgbClr val="FDFBF4"/>
          </a:solidFill>
          <a:ln w="25400">
            <a:solidFill>
              <a:srgbClr val="F4F1E7"/>
            </a:solidFill>
            <a:prstDash val="solid"/>
          </a:ln>
        </p:spPr>
      </p:sp>
      <p:sp>
        <p:nvSpPr>
          <p:cNvPr id="25" name="Shape 23"/>
          <p:cNvSpPr/>
          <p:nvPr/>
        </p:nvSpPr>
        <p:spPr>
          <a:xfrm>
            <a:off x="11087957" y="6242495"/>
            <a:ext cx="79724" cy="97441"/>
          </a:xfrm>
          <a:prstGeom prst="rect">
            <a:avLst/>
          </a:prstGeom>
          <a:solidFill>
            <a:srgbClr val="211C12"/>
          </a:solidFill>
          <a:ln/>
        </p:spPr>
      </p:sp>
      <p:sp>
        <p:nvSpPr>
          <p:cNvPr id="26" name="Shape 24"/>
          <p:cNvSpPr/>
          <p:nvPr/>
        </p:nvSpPr>
        <p:spPr>
          <a:xfrm>
            <a:off x="11211973" y="6171629"/>
            <a:ext cx="79724" cy="168307"/>
          </a:xfrm>
          <a:prstGeom prst="rect">
            <a:avLst/>
          </a:prstGeom>
          <a:solidFill>
            <a:srgbClr val="211C12"/>
          </a:solidFill>
          <a:ln/>
        </p:spPr>
      </p:sp>
      <p:sp>
        <p:nvSpPr>
          <p:cNvPr id="27" name="Shape 25"/>
          <p:cNvSpPr/>
          <p:nvPr/>
        </p:nvSpPr>
        <p:spPr>
          <a:xfrm>
            <a:off x="11335988" y="6091904"/>
            <a:ext cx="79724" cy="248031"/>
          </a:xfrm>
          <a:prstGeom prst="rect">
            <a:avLst/>
          </a:prstGeom>
          <a:solidFill>
            <a:srgbClr val="211C12"/>
          </a:solidFill>
          <a:ln/>
        </p:spPr>
      </p:sp>
      <p:sp>
        <p:nvSpPr>
          <p:cNvPr id="28" name="Shape 26"/>
          <p:cNvSpPr/>
          <p:nvPr/>
        </p:nvSpPr>
        <p:spPr>
          <a:xfrm flipV="1">
            <a:off x="11096816" y="5994464"/>
            <a:ext cx="283464" cy="141732"/>
          </a:xfrm>
          <a:prstGeom prst="line">
            <a:avLst/>
          </a:prstGeom>
          <a:noFill/>
          <a:ln w="33020">
            <a:solidFill>
              <a:srgbClr val="9C2F1F"/>
            </a:solidFill>
            <a:prstDash val="solid"/>
            <a:tailEnd type="triangle"/>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RuleLift — legacy rule extraction, proof &amp; safe change</dc:title>
  <dc:subject>PptxGenJS Presentation</dc:subject>
  <dc:creator>Sambit Sargam Ekalabya</dc:creator>
  <cp:lastModifiedBy>Sambit Sargam Ekalabya</cp:lastModifiedBy>
  <cp:revision>1</cp:revision>
  <dcterms:created xsi:type="dcterms:W3CDTF">2026-07-07T06:12:09Z</dcterms:created>
  <dcterms:modified xsi:type="dcterms:W3CDTF">2026-07-07T06:12:09Z</dcterms:modified>
</cp:coreProperties>
</file>